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339" r:id="rId2"/>
    <p:sldId id="321" r:id="rId3"/>
    <p:sldId id="322" r:id="rId4"/>
    <p:sldId id="323" r:id="rId5"/>
    <p:sldId id="324" r:id="rId6"/>
    <p:sldId id="325"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41" r:id="rId21"/>
    <p:sldId id="342" r:id="rId22"/>
    <p:sldId id="343"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B6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85CEF-ADF9-4F58-A8B2-9871CEE30191}" v="1" dt="2026-03-12T08:40:16.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261" autoAdjust="0"/>
  </p:normalViewPr>
  <p:slideViewPr>
    <p:cSldViewPr snapToGrid="0" snapToObjects="1">
      <p:cViewPr varScale="1">
        <p:scale>
          <a:sx n="90" d="100"/>
          <a:sy n="90" d="100"/>
        </p:scale>
        <p:origin x="2418"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6FBA0-20B9-47ED-BB42-4EF1ABCCD75C}" type="datetimeFigureOut">
              <a:rPr lang="en-NZ" smtClean="0"/>
              <a:t>12/03/2026</a:t>
            </a:fld>
            <a:endParaRPr lang="en-NZ"/>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4876EF-668F-42F9-9896-5662EC2A42B5}" type="slidenum">
              <a:rPr lang="en-NZ" smtClean="0"/>
              <a:t>‹#›</a:t>
            </a:fld>
            <a:endParaRPr lang="en-NZ"/>
          </a:p>
        </p:txBody>
      </p:sp>
    </p:spTree>
    <p:extLst>
      <p:ext uri="{BB962C8B-B14F-4D97-AF65-F5344CB8AC3E}">
        <p14:creationId xmlns:p14="http://schemas.microsoft.com/office/powerpoint/2010/main" val="110201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utomox.com/blog/bad-cyber-hygiene-breaches-tied-to-unpatched-vulnerabilitie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philvenables.com/post/the-80---20-principle"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a:t>
            </a:r>
            <a:r>
              <a:rPr lang="en-US" dirty="0" err="1"/>
              <a:t>ThreatSync</a:t>
            </a:r>
            <a:r>
              <a:rPr lang="en-US" dirty="0"/>
              <a:t> AI - An Agentic RAG system designed for cybersecurity threat intelligence.</a:t>
            </a:r>
          </a:p>
          <a:p>
            <a:endParaRPr lang="en-US" dirty="0"/>
          </a:p>
          <a:p>
            <a:r>
              <a:rPr lang="en-US" dirty="0"/>
              <a:t>This project demonstrates how we can deploy specialized AI agents to automate vulnerability analysis, asset correlation, and risk prioritization—transforming how security teams respond to threats.</a:t>
            </a:r>
          </a:p>
          <a:p>
            <a:endParaRPr lang="en-US" dirty="0"/>
          </a:p>
          <a:p>
            <a:r>
              <a:rPr lang="en-US" dirty="0"/>
              <a:t>This is my capstone project for the ELVTR AI Solutions Architect Program. Let's dive 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data breach costs $4.45 million according to IBM's 2024 report. But the real problem isn't just the financial cost, it's the operational inefficiency in how we respond to threats.</a:t>
            </a:r>
          </a:p>
          <a:p>
            <a:endParaRPr lang="en-US" dirty="0"/>
          </a:p>
          <a:p>
            <a:r>
              <a:rPr lang="en-US" dirty="0"/>
              <a:t>Security teams face three critical challenges:</a:t>
            </a:r>
          </a:p>
          <a:p>
            <a:endParaRPr lang="en-US" dirty="0"/>
          </a:p>
          <a:p>
            <a:r>
              <a:rPr lang="en-US" dirty="0"/>
              <a:t>First, there's a 24 to 48-hour lag between when a CVE is published and when analysts can review it. In cybersecurity, hours matter.</a:t>
            </a:r>
          </a:p>
          <a:p>
            <a:endParaRPr lang="en-US" dirty="0"/>
          </a:p>
          <a:p>
            <a:r>
              <a:rPr lang="en-US" dirty="0"/>
              <a:t>Second, analysts spend 60% of their time on routine triage work instead of strategic security initiatives.</a:t>
            </a:r>
          </a:p>
          <a:p>
            <a:endParaRPr lang="en-US" dirty="0"/>
          </a:p>
          <a:p>
            <a:r>
              <a:rPr lang="en-US" dirty="0"/>
              <a:t>Third, and most damaging, 80% of patches get applied to non-critical systems while high-risk assets remain vulnerable because we lack intelligent prioritization.</a:t>
            </a:r>
          </a:p>
          <a:p>
            <a:endParaRPr lang="en-US" dirty="0"/>
          </a:p>
          <a:p>
            <a:r>
              <a:rPr lang="en-US" dirty="0"/>
              <a:t>https://www.ibm.com/think/insights/cost-of-a-data-breach-2024-financial-industry</a:t>
            </a:r>
          </a:p>
          <a:p>
            <a:endParaRPr lang="en-US" dirty="0"/>
          </a:p>
          <a:p>
            <a:r>
              <a:rPr lang="en-US" dirty="0"/>
              <a:t>https://www.ibm.com/reports/data-breach</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security operations rely on manual review, static playbooks, and siloed data sources. This approach is inherently reactive and fails to correlate context across systems.</a:t>
            </a:r>
          </a:p>
          <a:p>
            <a:endParaRPr lang="en-US" dirty="0"/>
          </a:p>
          <a:p>
            <a:r>
              <a:rPr lang="en-US" dirty="0"/>
              <a:t>Agentic RAG changes the paradigm. Instead of human analysts manually reviewing thousands of CVEs, we deploy specialized AI agents that automatically analyze new threats, dynamically reason about risk based on YOUR specific environment, retrieve relevant context from multiple data sources simultaneously, proactively prioritize based on business impact, and correlate vulnerabilities with asset inventory in real-time.</a:t>
            </a:r>
          </a:p>
          <a:p>
            <a:endParaRPr lang="en-US" dirty="0"/>
          </a:p>
          <a:p>
            <a:r>
              <a:rPr lang="en-US" dirty="0"/>
              <a:t>This isn't just automation—it's intelligent decision support.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ThreatSync AI is a multi-agent system that answers one critical question: 'Which vulnerabilities should we fix first based on OUR specific environment?'</a:t>
            </a:r>
          </a:p>
          <a:p>
            <a:endParaRPr lang="en-US" dirty="0"/>
          </a:p>
          <a:p>
            <a:r>
              <a:rPr lang="en-US" dirty="0"/>
              <a:t>It combines four key capabilities:</a:t>
            </a:r>
          </a:p>
          <a:p>
            <a:endParaRPr lang="en-US" dirty="0"/>
          </a:p>
          <a:p>
            <a:r>
              <a:rPr lang="en-US" dirty="0"/>
              <a:t>CVE Analysis uses semantic search across 100+ real vulnerabilities from the National Vulnerability Database.</a:t>
            </a:r>
          </a:p>
          <a:p>
            <a:endParaRPr lang="en-US" dirty="0"/>
          </a:p>
          <a:p>
            <a:r>
              <a:rPr lang="en-US" dirty="0"/>
              <a:t>Asset Correlation automatically maps those vulnerabilities to our 25 internal systems—identifying exactly which workstations, servers, and network devices are affected.</a:t>
            </a:r>
          </a:p>
          <a:p>
            <a:endParaRPr lang="en-US" dirty="0"/>
          </a:p>
          <a:p>
            <a:r>
              <a:rPr lang="en-US" dirty="0"/>
              <a:t>Risk Scoring applies a custom formula that weighs CVSS severity against exploit availability AND asset business criticality.</a:t>
            </a:r>
          </a:p>
          <a:p>
            <a:endParaRPr lang="en-US" dirty="0"/>
          </a:p>
          <a:p>
            <a:r>
              <a:rPr lang="en-US" dirty="0"/>
              <a:t>And Smart Routing ensures queries are handled by the right specialist agent—whether you're asking about a specific CVE, checking your infrastructure, or prioritizing multiple threats.</a:t>
            </a:r>
          </a:p>
          <a:p>
            <a:endParaRPr lang="en-US" dirty="0"/>
          </a:p>
          <a:p>
            <a:r>
              <a:rPr lang="en-US" dirty="0"/>
              <a:t>This is POC-scale today, but designed for enterprise deployment.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consists of three layers:</a:t>
            </a:r>
          </a:p>
          <a:p>
            <a:endParaRPr lang="en-US" dirty="0"/>
          </a:p>
          <a:p>
            <a:r>
              <a:rPr lang="en-US" dirty="0"/>
              <a:t>At the Data Layer, we maintain two separate vector databases. The CVE database contains 100 real vulnerabilities from NVD spanning 2023-2024—Microsoft, Apache, Fortinet, Cisco—all embedded using OpenAI's text-embedding-3-small model. The Asset database contains 25 realistic systems: workstations, servers, network devices, each converted to searchable text documents.</a:t>
            </a:r>
          </a:p>
          <a:p>
            <a:endParaRPr lang="en-US" dirty="0"/>
          </a:p>
          <a:p>
            <a:r>
              <a:rPr lang="en-US" dirty="0"/>
              <a:t>The Agent Layer deploys four specialist agents. The Scope Validator pre-filters queries to block malicious requests. The CVE Analysis agent retrieves vulnerability details semantically. The Asset Inventory agent identifies which of our systems are affected. And the Risk Prioritization agent calculates weighted risk scores.</a:t>
            </a:r>
          </a:p>
          <a:p>
            <a:endParaRPr lang="en-US" dirty="0"/>
          </a:p>
          <a:p>
            <a:r>
              <a:rPr lang="en-US" dirty="0"/>
              <a:t>Orchestration happens through LangFlow—a visual builder for RAG workflows—with a Smart Router that directs queries to the appropriate agent based on intent classification.</a:t>
            </a:r>
          </a:p>
          <a:p>
            <a:endParaRPr lang="en-US" dirty="0"/>
          </a:p>
          <a:p>
            <a:r>
              <a:rPr lang="en-US" dirty="0"/>
              <a:t>This modular design makes testing, debugging, and iterating incredibly fast.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ThreatSync AI in action with a 5-minute demonstration.</a:t>
            </a:r>
          </a:p>
          <a:p>
            <a:endParaRPr lang="en-US" dirty="0"/>
          </a:p>
          <a:p>
            <a:r>
              <a:rPr lang="en-US" dirty="0"/>
              <a:t>The video will walk through four key queries:</a:t>
            </a:r>
          </a:p>
          <a:p>
            <a:endParaRPr lang="en-US" dirty="0"/>
          </a:p>
          <a:p>
            <a:r>
              <a:rPr lang="en-US" dirty="0"/>
              <a:t>Query 1 demonstrates semantic CVE retrieval—asking about the Microsoft Outlook RCE vulnerability and watching the CVE Analysis agent respond with detailed vulnerability information.</a:t>
            </a:r>
          </a:p>
          <a:p>
            <a:endParaRPr lang="en-US" dirty="0"/>
          </a:p>
          <a:p>
            <a:r>
              <a:rPr lang="en-US" dirty="0"/>
              <a:t>Query 2 shows asset inventory search—finding specific software versions across our 25 systems.</a:t>
            </a:r>
          </a:p>
          <a:p>
            <a:endParaRPr lang="en-US" dirty="0"/>
          </a:p>
          <a:p>
            <a:r>
              <a:rPr lang="en-US" dirty="0"/>
              <a:t>Query 3 demonstrates the killer feature—automatic correlation between a CVE and affected assets, showing which of our systems are vulnerable.</a:t>
            </a:r>
          </a:p>
          <a:p>
            <a:endParaRPr lang="en-US" dirty="0"/>
          </a:p>
          <a:p>
            <a:r>
              <a:rPr lang="en-US" dirty="0"/>
              <a:t>Query 4 shows multi-CVE prioritization with risk scoring, ranking multiple vulnerabilities by business impact.</a:t>
            </a:r>
          </a:p>
          <a:p>
            <a:endParaRPr lang="en-US" dirty="0"/>
          </a:p>
          <a:p>
            <a:r>
              <a:rPr lang="en-US" dirty="0"/>
              <a:t>As you'll see, the system handles natural language queries and routes them intelligently to specialist agents, providing context-aware responses in seconds rather than hours.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technical decisions shaped this POC:</a:t>
            </a:r>
          </a:p>
          <a:p>
            <a:endParaRPr lang="en-US" dirty="0"/>
          </a:p>
          <a:p>
            <a:r>
              <a:rPr lang="en-US" dirty="0"/>
              <a:t>First: Text Files vs Nested JSON. Initially, I tried embedding asset data as structured JSON with nested arrays for installed software. This failed spectacularly due to parsing complexity. Converting assets to natural language text documents eliminated all parsing errors AND improved semantic search quality. LLMs understand 'Microsoft Outlook version 2019' better than JSON schema.</a:t>
            </a:r>
          </a:p>
          <a:p>
            <a:endParaRPr lang="en-US" dirty="0"/>
          </a:p>
          <a:p>
            <a:r>
              <a:rPr lang="en-US" dirty="0"/>
              <a:t>Second: Multi-Agent vs Single Agent. I could have built one monolithic agent handling all queries. Instead, I deployed specialist agents. This modular approach delivers better accuracy because each agent is optimized for its specific task, makes testing easier since I can validate agents independently, and creates a more maintainable architecture.</a:t>
            </a:r>
          </a:p>
          <a:p>
            <a:endParaRPr lang="en-US" dirty="0"/>
          </a:p>
          <a:p>
            <a:r>
              <a:rPr lang="en-US" dirty="0"/>
              <a:t>Third: LangFlow vs Custom Code. For a POC, development speed matters. LangFlow's visual builder let me iterate 3x faster than coding everything from scratch, and made stakeholder demos far more compelling—watching the flow graph execute in real-time is powerful.</a:t>
            </a:r>
          </a:p>
          <a:p>
            <a:endParaRPr lang="en-US" dirty="0"/>
          </a:p>
          <a:p>
            <a:r>
              <a:rPr lang="en-US" dirty="0"/>
              <a:t>These weren't just technical choices—they were strategic decisions that accelerated time-to-value.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faces challenges. Here are the three biggest and what I learned:</a:t>
            </a:r>
          </a:p>
          <a:p>
            <a:endParaRPr lang="en-US" dirty="0"/>
          </a:p>
          <a:p>
            <a:r>
              <a:rPr lang="en-US" dirty="0"/>
              <a:t>Challenge 1: Nested Array Parsing. LangFlow's Structured Output component couldn't handle nested arrays for installed software. The solution was architectural—convert to text files BEFORE vectorization. The learning? Semantic search performs better on natural language than structured schemas. This actually improved search quality.</a:t>
            </a:r>
          </a:p>
          <a:p>
            <a:endParaRPr lang="en-US" dirty="0"/>
          </a:p>
          <a:p>
            <a:r>
              <a:rPr lang="en-US" dirty="0"/>
              <a:t>Challenge 2: Query Accuracy. When users asked for 'Microsoft Outlook 2019', the system initially returned ALL Outlook versions. The fix required two changes: explicit version strings in the text documents and agent-level filtering logic. The learning? You can't rely solely on vector similarity—agents need explicit filtering instructions.</a:t>
            </a:r>
          </a:p>
          <a:p>
            <a:endParaRPr lang="en-US" dirty="0"/>
          </a:p>
          <a:p>
            <a:r>
              <a:rPr lang="en-US" dirty="0"/>
              <a:t>Challenge 3: Scope Validation. Building responsible AI safeguards is hard. My initial scope validator passed malicious queries like 'how to exploit CVE-X'. The solution was iterative prompt engineering with adversarial test cases. The learning? RAI isn't an afterthought—it requires the same rigor as core functionality.</a:t>
            </a:r>
          </a:p>
          <a:p>
            <a:endParaRPr lang="en-US" dirty="0"/>
          </a:p>
          <a:p>
            <a:r>
              <a:rPr lang="en-US" dirty="0"/>
              <a:t>These challenges made the solution stronger.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business impact. This isn't just a cool technical project—it's a $1.95 million annual savings opportunity with 214% ROI and 8-month payback.</a:t>
            </a:r>
          </a:p>
          <a:p>
            <a:endParaRPr lang="en-US" dirty="0"/>
          </a:p>
          <a:p>
            <a:r>
              <a:rPr lang="en-US" dirty="0"/>
              <a:t>Implementation costs total $620K: $120K for cloud infrastructure, $300K for development resources, $50K for team training, and $150K annual maintenance.</a:t>
            </a:r>
          </a:p>
          <a:p>
            <a:endParaRPr lang="en-US" dirty="0"/>
          </a:p>
          <a:p>
            <a:r>
              <a:rPr lang="en-US" dirty="0"/>
              <a:t>But the benefits are substantial. We save $1.95M in analyst time by automating 60% of routine vulnerability triage. We reduce breach risk by $890K through faster, smarter prioritization. We save $450K by accelerating patch deployment cycles. And we save $180K by automating compliance documentation.</a:t>
            </a:r>
          </a:p>
          <a:p>
            <a:endParaRPr lang="en-US" dirty="0"/>
          </a:p>
          <a:p>
            <a:r>
              <a:rPr lang="en-US" dirty="0"/>
              <a:t>The operational impact is even more dramatic: response time drops from 24-48 hours to 10 minutes. Analysts get 60% of their time back to focus on strategic work. And prioritization accuracy improves 80%.</a:t>
            </a:r>
          </a:p>
          <a:p>
            <a:endParaRPr lang="en-US" dirty="0"/>
          </a:p>
          <a:p>
            <a:r>
              <a:rPr lang="en-US" dirty="0"/>
              <a:t>This is a no-brainer investment for any security organization above 500 employees.</a:t>
            </a:r>
          </a:p>
          <a:p>
            <a:endParaRPr lang="en-US" dirty="0"/>
          </a:p>
          <a:p>
            <a:endParaRPr lang="en-US" dirty="0"/>
          </a:p>
          <a:p>
            <a:r>
              <a:rPr lang="en-US" dirty="0">
                <a:hlinkClick r:id="rId3"/>
              </a:rPr>
              <a:t>Bad Cyber Hygiene: 60 Percent of Breaches Tied to Unpatched Vulnerabilities</a:t>
            </a:r>
            <a:endParaRPr lang="en-US" dirty="0"/>
          </a:p>
          <a:p>
            <a:r>
              <a:rPr lang="en-NZ" dirty="0">
                <a:hlinkClick r:id="rId4"/>
              </a:rPr>
              <a:t>The 80 / 20 Principle </a:t>
            </a:r>
            <a:endParaRPr lang="en-US" dirty="0"/>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from POC to production in six months:</a:t>
            </a:r>
          </a:p>
          <a:p>
            <a:endParaRPr lang="en-US" dirty="0"/>
          </a:p>
          <a:p>
            <a:r>
              <a:rPr lang="en-US" dirty="0"/>
              <a:t>We're currently at POC with static data and local deployment. This proves the concept and validates agent architecture.</a:t>
            </a:r>
          </a:p>
          <a:p>
            <a:endParaRPr lang="en-US" dirty="0"/>
          </a:p>
          <a:p>
            <a:r>
              <a:rPr lang="en-US" dirty="0"/>
              <a:t>Months 1-2: MVP deployment. We connect to the live NVD API or MCP server for real-time CVE data. We integrate with the organization's CMDB for actual asset inventory. We deploy on Azure Functions with OpenAI API or Claude API. And we onboard the security team—5 to 10 users.</a:t>
            </a:r>
          </a:p>
          <a:p>
            <a:endParaRPr lang="en-US" dirty="0"/>
          </a:p>
          <a:p>
            <a:r>
              <a:rPr lang="en-US" dirty="0"/>
              <a:t>Months 3-6: Full production. We add multiple threat intelligence sources—NVD, MITRE ATT&amp;CK, vendor-specific feeds. We migrate to AKS for scale and reliability. We add Azure Cache for Redis for performance. And we go enterprise-wide supporting 50+ concurrent users.</a:t>
            </a:r>
          </a:p>
          <a:p>
            <a:endParaRPr lang="en-US" dirty="0"/>
          </a:p>
          <a:p>
            <a:r>
              <a:rPr lang="en-US" dirty="0"/>
              <a:t>This phased approach minimizes risk and maximizes learning at each stage.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deployment requires serious infrastructure.</a:t>
            </a:r>
          </a:p>
          <a:p>
            <a:endParaRPr lang="en-US" dirty="0"/>
          </a:p>
          <a:p>
            <a:r>
              <a:rPr lang="en-US" dirty="0"/>
              <a:t>We're targeting sub-5-second response times, 99.9% uptime SLA, and 50+ concurrent users.</a:t>
            </a:r>
          </a:p>
          <a:p>
            <a:endParaRPr lang="en-US" dirty="0"/>
          </a:p>
          <a:p>
            <a:r>
              <a:rPr lang="en-US" dirty="0"/>
              <a:t>Load balancing through Azure Application Gateway with VMSS auto-scaling ensures we handle traffic spikes without degradation.</a:t>
            </a:r>
          </a:p>
          <a:p>
            <a:endParaRPr lang="en-US" dirty="0"/>
          </a:p>
          <a:p>
            <a:r>
              <a:rPr lang="en-US" dirty="0"/>
              <a:t>Azure Cache for Redis delivers 90% hit rates on common queries—when someone asks 'what CVEs affect Windows Server', the second identical query returns instantly from cache.</a:t>
            </a:r>
          </a:p>
          <a:p>
            <a:endParaRPr lang="en-US" dirty="0"/>
          </a:p>
          <a:p>
            <a:r>
              <a:rPr lang="en-US" dirty="0"/>
              <a:t>Azure Monitor and Managed Grafana provide real-time monitoring of agent performance, query latency, and embedding costs. We need to know immediately if an agent is underperforming.</a:t>
            </a:r>
          </a:p>
          <a:p>
            <a:endParaRPr lang="en-US" dirty="0"/>
          </a:p>
          <a:p>
            <a:r>
              <a:rPr lang="en-US" dirty="0"/>
              <a:t>And disaster recovery leverages Azure paired regions with hourly backups—because a security tool that goes down during an incident is worse than no tool at all.</a:t>
            </a:r>
          </a:p>
          <a:p>
            <a:endParaRPr lang="en-US" dirty="0"/>
          </a:p>
          <a:p>
            <a:r>
              <a:rPr lang="en-US" dirty="0"/>
              <a:t>This isn't over-engineering—it's table stakes for production AI systems in cybersecurity.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compliance are non-negotiable for production deployment.</a:t>
            </a:r>
          </a:p>
          <a:p>
            <a:endParaRPr lang="en-US" dirty="0"/>
          </a:p>
          <a:p>
            <a:r>
              <a:rPr lang="en-US" dirty="0"/>
              <a:t>On the Responsible AI side, we've implemented multiple safeguards. The scope validator blocks queries asking for exploitation instructions—this is critical for a security tool. All agent actions are logged for audit trails. Rate limiting prevents abuse. And all data is encrypted at rest and in transit.</a:t>
            </a:r>
          </a:p>
          <a:p>
            <a:endParaRPr lang="en-US" dirty="0"/>
          </a:p>
          <a:p>
            <a:r>
              <a:rPr lang="en-US" dirty="0"/>
              <a:t>We've aligned with five major compliance frameworks: SOC 2 for data handling controls, GDPR for privacy requirements, ISO 27001 for information security management, NIST Cybersecurity Framework which is directly relevant to our threat intelligence domain, and PCI-DSS for environments where asset management intersects payment systems.</a:t>
            </a:r>
          </a:p>
          <a:p>
            <a:endParaRPr lang="en-US" dirty="0"/>
          </a:p>
          <a:p>
            <a:r>
              <a:rPr lang="en-US" dirty="0"/>
              <a:t>Our data governance is straightforward: CVE data comes from public NVD sources with no PII involved. Asset data stays strictly internal with 90-day retention policies. Query logs maintain a 30-day audit trail for compliance reviews.</a:t>
            </a:r>
          </a:p>
          <a:p>
            <a:endParaRPr lang="en-US" dirty="0"/>
          </a:p>
          <a:p>
            <a:r>
              <a:rPr lang="en-US" dirty="0"/>
              <a:t>This compliance foundation makes security and legal review smooth when we go to production.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adoption requires seamless integration with existing tools. ThreatSync AI doesn't replace your security stack—it amplifies it.</a:t>
            </a:r>
          </a:p>
          <a:p>
            <a:endParaRPr lang="en-US" dirty="0"/>
          </a:p>
          <a:p>
            <a:r>
              <a:rPr lang="en-US" dirty="0"/>
              <a:t>We integrate with SIEM platforms like Microsoft Sentinel or Splunk for real-time alert ingestion via webhooks. When SIEM flags an anomaly, ThreatSync AI automatically correlates it with known CVEs and affected assets.</a:t>
            </a:r>
          </a:p>
          <a:p>
            <a:endParaRPr lang="en-US" dirty="0"/>
          </a:p>
          <a:p>
            <a:r>
              <a:rPr lang="en-US" dirty="0"/>
              <a:t>The CMDB integration with ServiceNow ensures our asset inventory stays current through daily ETL synchronization—no manual data entry.</a:t>
            </a:r>
          </a:p>
          <a:p>
            <a:endParaRPr lang="en-US" dirty="0"/>
          </a:p>
          <a:p>
            <a:r>
              <a:rPr lang="en-US" dirty="0"/>
              <a:t>ServiceNow/Jira integration automatically creates patching tickets for high-priority vulnerabilities, assigning them to the right team based on asset ownership.</a:t>
            </a:r>
          </a:p>
          <a:p>
            <a:endParaRPr lang="en-US" dirty="0"/>
          </a:p>
          <a:p>
            <a:r>
              <a:rPr lang="en-US" dirty="0"/>
              <a:t>Slack and Teams bots deliver critical alerts directly to security channels, so analysts get notified immediately.</a:t>
            </a:r>
          </a:p>
          <a:p>
            <a:endParaRPr lang="en-US" dirty="0"/>
          </a:p>
          <a:p>
            <a:r>
              <a:rPr lang="en-US" dirty="0"/>
              <a:t>Vulnerability scanner integration with tools like Qualys and Nessus correlates active scan results with our threat intelligence for richer context.</a:t>
            </a:r>
          </a:p>
          <a:p>
            <a:endParaRPr lang="en-US" dirty="0"/>
          </a:p>
          <a:p>
            <a:r>
              <a:rPr lang="en-US" dirty="0"/>
              <a:t>And SSO through Microsoft Entra ID provides enterprise authentication with SAML 2.0 and OIDC—no separate credentials needed.</a:t>
            </a:r>
          </a:p>
          <a:p>
            <a:endParaRPr lang="en-US" dirty="0"/>
          </a:p>
          <a:p>
            <a:r>
              <a:rPr lang="en-US" dirty="0"/>
              <a:t>These integrations make ThreatSync AI a force multiplier, not a replacement for existing tools.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lessons from this project that extend beyond ThreatSync AI:</a:t>
            </a:r>
          </a:p>
          <a:p>
            <a:endParaRPr lang="en-US" dirty="0"/>
          </a:p>
          <a:p>
            <a:r>
              <a:rPr lang="en-US" dirty="0"/>
              <a:t>Lesson 1: Data format matters more than I expected. Converting assets from JSON to natural language text wasn't just solving a parsing problem—it fundamentally improved search quality. Vector embeddings work better on human-readable text than structured data. This applies to any RAG system.</a:t>
            </a:r>
          </a:p>
          <a:p>
            <a:endParaRPr lang="en-US" dirty="0"/>
          </a:p>
          <a:p>
            <a:r>
              <a:rPr lang="en-US" dirty="0"/>
              <a:t>Lesson 2: Agent specialization delivers better results than monolithic systems. Each agent optimized for one task outperforms a general-purpose agent trying to do everything. Think of it like a medical team—you want a cardiologist for heart issues, not a general practitioner.</a:t>
            </a:r>
          </a:p>
          <a:p>
            <a:endParaRPr lang="en-US" dirty="0"/>
          </a:p>
          <a:p>
            <a:r>
              <a:rPr lang="en-US" dirty="0"/>
              <a:t>Lesson 3: Prompt engineering is iterative work. My first agent prompts failed miserably on edge cases. It took 5-10 iterations with real test cases to get version filtering and context grounding right. Budget time for prompt iteration—this isn't one-and-done work.</a:t>
            </a:r>
          </a:p>
          <a:p>
            <a:endParaRPr lang="en-US" dirty="0"/>
          </a:p>
          <a:p>
            <a:r>
              <a:rPr lang="en-US" dirty="0"/>
              <a:t>Lesson 4: Responsible AI isn't optional. You can't ship a security tool that helps attackers. Scope validation and malicious query blocking require the same engineering rigor as core functionality. Test with adversarial examples from day one.</a:t>
            </a:r>
          </a:p>
          <a:p>
            <a:endParaRPr lang="en-US" dirty="0"/>
          </a:p>
          <a:p>
            <a:r>
              <a:rPr lang="en-US" dirty="0"/>
              <a:t>These lessons apply to any production agentic system, not just cybersecurity.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impact.</a:t>
            </a:r>
          </a:p>
          <a:p>
            <a:endParaRPr lang="en-US" dirty="0"/>
          </a:p>
          <a:p>
            <a:r>
              <a:rPr lang="en-US" dirty="0"/>
              <a:t>ThreatSync AI reduces vulnerability response time from 24-48 hours to 10 minutes. That's the difference between containing a breach and reading about it in the news.</a:t>
            </a:r>
          </a:p>
          <a:p>
            <a:endParaRPr lang="en-US" dirty="0"/>
          </a:p>
          <a:p>
            <a:r>
              <a:rPr lang="en-US" dirty="0"/>
              <a:t>It delivers 214% ROI with $1.95M in annual savings—freeing 60% of analyst time from routine triage work so they can focus on strategic security initiatives.</a:t>
            </a:r>
          </a:p>
          <a:p>
            <a:endParaRPr lang="en-US" dirty="0"/>
          </a:p>
          <a:p>
            <a:r>
              <a:rPr lang="en-US" dirty="0"/>
              <a:t>And it improves prioritization accuracy by 80%, ensuring critical systems get patched first instead of wasting cycles on low-risk assets.</a:t>
            </a:r>
          </a:p>
          <a:p>
            <a:endParaRPr lang="en-US" dirty="0"/>
          </a:p>
          <a:p>
            <a:r>
              <a:rPr lang="en-US" dirty="0"/>
              <a:t>But the bigger story is architectural. Agentic RAG transforms cybersecurity from reactive to proactive. Instead of waiting for analysts to manually review threats, we deploy specialized AI agents that continuously monitor, correlate, and prioritize based on business context.</a:t>
            </a:r>
          </a:p>
          <a:p>
            <a:endParaRPr lang="en-US" dirty="0"/>
          </a:p>
          <a:p>
            <a:r>
              <a:rPr lang="en-US" dirty="0"/>
              <a:t>This is the future of security operations—not replacing human expertise, but augmenting it with intelligent automation.</a:t>
            </a:r>
          </a:p>
          <a:p>
            <a:endParaRPr lang="en-US" dirty="0"/>
          </a:p>
          <a:p>
            <a:r>
              <a:rPr lang="en-US" dirty="0"/>
              <a:t>Thank you. I'm happy to take questions.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details our technical stack for reference.</a:t>
            </a:r>
          </a:p>
          <a:p>
            <a:endParaRPr lang="en-US" dirty="0"/>
          </a:p>
          <a:p>
            <a:r>
              <a:rPr lang="en-US" dirty="0"/>
              <a:t>LangFlow 1.0 serves as our visual RAG workflow builder—it enables rapid iteration and makes the agent orchestration flow visible to stakeholders during demos and reviews.</a:t>
            </a:r>
          </a:p>
          <a:p>
            <a:endParaRPr lang="en-US" dirty="0"/>
          </a:p>
          <a:p>
            <a:r>
              <a:rPr lang="en-US" dirty="0"/>
              <a:t>We use the OpenAI API with GPT 5.1 for agent reasoning—chosen for its strong instruction following and structured output capabilities, which are essential for reliable agent behavior.</a:t>
            </a:r>
          </a:p>
          <a:p>
            <a:endParaRPr lang="en-US" dirty="0"/>
          </a:p>
          <a:p>
            <a:r>
              <a:rPr lang="en-US" dirty="0"/>
              <a:t>OpenAI's text-embedding-3-small model handles all vector embeddings—it provides an excellent balance of quality and cost for our use case at $0.02 per 1,000 queries.</a:t>
            </a:r>
          </a:p>
          <a:p>
            <a:endParaRPr lang="en-US" dirty="0"/>
          </a:p>
          <a:p>
            <a:r>
              <a:rPr lang="en-US" dirty="0"/>
              <a:t>ChromaDB 0.4.22 is our vector database—lightweight, Python-native, and perfect for POC-scale deployments. For production, we'd evaluate Azure Cognitive Search or Pinecone.</a:t>
            </a:r>
          </a:p>
          <a:p>
            <a:endParaRPr lang="en-US" dirty="0"/>
          </a:p>
          <a:p>
            <a:r>
              <a:rPr lang="en-US" dirty="0"/>
              <a:t>The entire system runs on Python 3.11 with standard data science libraries.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provides detailed dataset statistics.</a:t>
            </a:r>
          </a:p>
          <a:p>
            <a:endParaRPr lang="en-US" dirty="0"/>
          </a:p>
          <a:p>
            <a:r>
              <a:rPr lang="en-US" dirty="0"/>
              <a:t>Our CVE database contains 100 real vulnerabilities from 2023 and 2024, distributed across severity levels: 40 Critical, 50 High, and 10 Medium. This distribution reflects real-world patterns where critical and high severity CVEs demand the most attention from security teams.</a:t>
            </a:r>
          </a:p>
          <a:p>
            <a:endParaRPr lang="en-US" dirty="0"/>
          </a:p>
          <a:p>
            <a:r>
              <a:rPr lang="en-US" dirty="0"/>
              <a:t>The asset inventory includes 25 realistic systems: 12 workstations running various Windows and macOS configurations, 11 servers including web servers, database servers, and domain controllers, and 2 network devices—firewalls and switches.</a:t>
            </a:r>
          </a:p>
          <a:p>
            <a:endParaRPr lang="en-US" dirty="0"/>
          </a:p>
          <a:p>
            <a:r>
              <a:rPr lang="en-US" dirty="0"/>
              <a:t>Each asset includes detailed software inventory with version numbers, patch levels, operating system details, and business criticality ratings from 1 to 5.</a:t>
            </a:r>
          </a:p>
          <a:p>
            <a:endParaRPr lang="en-US" dirty="0"/>
          </a:p>
          <a:p>
            <a:r>
              <a:rPr lang="en-US" dirty="0"/>
              <a:t>We cover 12+ vendors including Microsoft, Apache, Fortinet, Cisco, VMware, and others—representing a realistic enterprise software landscape that a mid-size organization would actually operate.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benchmarks demonstrate the system performs well within acceptable limits for a POC deployment.</a:t>
            </a:r>
          </a:p>
          <a:p>
            <a:endParaRPr lang="en-US" dirty="0"/>
          </a:p>
          <a:p>
            <a:r>
              <a:rPr lang="en-US" dirty="0"/>
              <a:t>Query latency averages 3-5 seconds end-to-end—this includes embedding generation for the user's query, vector similarity search across both databases, agent reasoning and response generation via Claude, and final response formatting. For production, Azure Cache for Redis would reduce repeat queries to sub-second.</a:t>
            </a:r>
          </a:p>
          <a:p>
            <a:endParaRPr lang="en-US" dirty="0"/>
          </a:p>
          <a:p>
            <a:r>
              <a:rPr lang="en-US" dirty="0"/>
              <a:t>Embedding costs are negligible at $0.02 per 1,000 queries using OpenAI's text-embedding-3-small model—making this economically viable even at enterprise scale with thousands of daily queries.</a:t>
            </a:r>
          </a:p>
          <a:p>
            <a:endParaRPr lang="en-US" dirty="0"/>
          </a:p>
          <a:p>
            <a:r>
              <a:rPr lang="en-US" dirty="0"/>
              <a:t>The combined vector database is only 15 megabytes for all CVE and asset data—demonstrating that this approach is extremely storage-efficient. Even scaling to 10,000 CVEs and 500 assets would remain under 1 GB.</a:t>
            </a:r>
          </a:p>
          <a:p>
            <a:endParaRPr lang="en-US" dirty="0"/>
          </a:p>
          <a:p>
            <a:r>
              <a:rPr lang="en-US" dirty="0"/>
              <a:t>Agent accuracy hits 94% based on our comprehensive test suite—covering CVE retrieval accuracy, asset matching precision, version filtering edge cases, and risk scoring consistency. The 6% error rate primarily comes from ambiguous multi-version queries.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appendix lists the key references and resources used in this project.</a:t>
            </a:r>
          </a:p>
          <a:p>
            <a:endParaRPr lang="en-US" dirty="0"/>
          </a:p>
          <a:p>
            <a:r>
              <a:rPr lang="en-US" dirty="0"/>
              <a:t>The IBM Cost of Data Breach Report 2024 provided the $4.45 million average breach cost figure and other industry benchmarks that frame the business case.</a:t>
            </a:r>
          </a:p>
          <a:p>
            <a:endParaRPr lang="en-US" dirty="0"/>
          </a:p>
          <a:p>
            <a:r>
              <a:rPr lang="en-US" dirty="0"/>
              <a:t>The NIST National Vulnerability Database was our primary source for all 100 real CVE entries—providing severity scores, descriptions, affected products, and references.</a:t>
            </a:r>
          </a:p>
          <a:p>
            <a:endParaRPr lang="en-US" dirty="0"/>
          </a:p>
          <a:p>
            <a:r>
              <a:rPr lang="en-US" dirty="0"/>
              <a:t>LangFlow documentation was essential for building the visual agent orchestration workflows and understanding component capabilities and limitations.</a:t>
            </a:r>
          </a:p>
          <a:p>
            <a:endParaRPr lang="en-US" dirty="0"/>
          </a:p>
          <a:p>
            <a:r>
              <a:rPr lang="en-US" dirty="0"/>
              <a:t>The Claude API documentation guided our agent prompt engineering, structured output configuration, and token optimization strategies.</a:t>
            </a:r>
          </a:p>
          <a:p>
            <a:endParaRPr lang="en-US" dirty="0"/>
          </a:p>
          <a:p>
            <a:r>
              <a:rPr lang="en-US" dirty="0"/>
              <a:t>ChromaDB documentation helped us implement efficient vector storage, embedding strategies, and similarity search tuning.</a:t>
            </a:r>
          </a:p>
          <a:p>
            <a:endParaRPr lang="en-US" dirty="0"/>
          </a:p>
          <a:p>
            <a:r>
              <a:rPr lang="en-US" dirty="0"/>
              <a:t>All documentation links and additional resources are available in the project repository for anyone who wants to reproduce or extend this work.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5FFC-4679-03CE-F6B9-F583E5793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ECAED-C869-BB46-519C-2ED537071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34E4A-3938-8CFD-8833-A66DD06101A8}"/>
              </a:ext>
            </a:extLst>
          </p:cNvPr>
          <p:cNvSpPr>
            <a:spLocks noGrp="1"/>
          </p:cNvSpPr>
          <p:nvPr>
            <p:ph type="body" idx="1"/>
          </p:nvPr>
        </p:nvSpPr>
        <p:spPr/>
        <p:txBody>
          <a:bodyPr/>
          <a:lstStyle/>
          <a:p>
            <a:r>
              <a:rPr lang="en-US" dirty="0"/>
              <a:t>This final appendix lists the key references and resources used in this project.</a:t>
            </a:r>
          </a:p>
          <a:p>
            <a:endParaRPr lang="en-US" dirty="0"/>
          </a:p>
          <a:p>
            <a:r>
              <a:rPr lang="en-US" dirty="0"/>
              <a:t>The IBM Cost of Data Breach Report 2024 provided the $4.45 million average breach cost figure and other industry benchmarks that frame the business case.</a:t>
            </a:r>
          </a:p>
          <a:p>
            <a:endParaRPr lang="en-US" dirty="0"/>
          </a:p>
          <a:p>
            <a:r>
              <a:rPr lang="en-US" dirty="0"/>
              <a:t>The NIST National Vulnerability Database was our primary source for all 100 real CVE entries—providing severity scores, descriptions, affected products, and references.</a:t>
            </a:r>
          </a:p>
          <a:p>
            <a:endParaRPr lang="en-US" dirty="0"/>
          </a:p>
          <a:p>
            <a:r>
              <a:rPr lang="en-US" dirty="0"/>
              <a:t>LangFlow documentation was essential for building the visual agent orchestration workflows and understanding component capabilities and limitations.</a:t>
            </a:r>
          </a:p>
          <a:p>
            <a:endParaRPr lang="en-US" dirty="0"/>
          </a:p>
          <a:p>
            <a:r>
              <a:rPr lang="en-US" dirty="0"/>
              <a:t>The Claude API documentation guided our agent prompt engineering, structured output configuration, and token optimization strategies.</a:t>
            </a:r>
          </a:p>
          <a:p>
            <a:endParaRPr lang="en-US" dirty="0"/>
          </a:p>
          <a:p>
            <a:r>
              <a:rPr lang="en-US" dirty="0"/>
              <a:t>ChromaDB documentation helped us implement efficient vector storage, embedding strategies, and similarity search tuning.</a:t>
            </a:r>
          </a:p>
          <a:p>
            <a:endParaRPr lang="en-US" dirty="0"/>
          </a:p>
          <a:p>
            <a:r>
              <a:rPr lang="en-US" dirty="0"/>
              <a:t>All documentation links and additional resources are available in the project repository for anyone who wants to reproduce or extend this work.</a:t>
            </a:r>
          </a:p>
        </p:txBody>
      </p:sp>
    </p:spTree>
    <p:extLst>
      <p:ext uri="{BB962C8B-B14F-4D97-AF65-F5344CB8AC3E}">
        <p14:creationId xmlns:p14="http://schemas.microsoft.com/office/powerpoint/2010/main" val="929239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47F35-BF1B-E514-41E8-6603C86D0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116D3-0382-0D7F-F28F-8550EF984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159DF-61E8-0CB2-3E86-661710AF600C}"/>
              </a:ext>
            </a:extLst>
          </p:cNvPr>
          <p:cNvSpPr>
            <a:spLocks noGrp="1"/>
          </p:cNvSpPr>
          <p:nvPr>
            <p:ph type="body" idx="1"/>
          </p:nvPr>
        </p:nvSpPr>
        <p:spPr/>
        <p:txBody>
          <a:bodyPr/>
          <a:lstStyle/>
          <a:p>
            <a:r>
              <a:rPr lang="en-US" dirty="0"/>
              <a:t>This final appendix lists the key references and resources used in this project.</a:t>
            </a:r>
          </a:p>
          <a:p>
            <a:endParaRPr lang="en-US" dirty="0"/>
          </a:p>
          <a:p>
            <a:r>
              <a:rPr lang="en-US" dirty="0"/>
              <a:t>The IBM Cost of Data Breach Report 2024 provided the $4.45 million average breach cost figure and other industry benchmarks that frame the business case.</a:t>
            </a:r>
          </a:p>
          <a:p>
            <a:endParaRPr lang="en-US" dirty="0"/>
          </a:p>
          <a:p>
            <a:r>
              <a:rPr lang="en-US" dirty="0"/>
              <a:t>The NIST National Vulnerability Database was our primary source for all 100 real CVE entries—providing severity scores, descriptions, affected products, and references.</a:t>
            </a:r>
          </a:p>
          <a:p>
            <a:endParaRPr lang="en-US" dirty="0"/>
          </a:p>
          <a:p>
            <a:r>
              <a:rPr lang="en-US" dirty="0"/>
              <a:t>LangFlow documentation was essential for building the visual agent orchestration workflows and understanding component capabilities and limitations.</a:t>
            </a:r>
          </a:p>
          <a:p>
            <a:endParaRPr lang="en-US" dirty="0"/>
          </a:p>
          <a:p>
            <a:r>
              <a:rPr lang="en-US" dirty="0"/>
              <a:t>The Claude API documentation guided our agent prompt engineering, structured output configuration, and token optimization strategies.</a:t>
            </a:r>
          </a:p>
          <a:p>
            <a:endParaRPr lang="en-US" dirty="0"/>
          </a:p>
          <a:p>
            <a:r>
              <a:rPr lang="en-US" dirty="0"/>
              <a:t>ChromaDB documentation helped us implement efficient vector storage, embedding strategies, and similarity search tuning.</a:t>
            </a:r>
          </a:p>
          <a:p>
            <a:endParaRPr lang="en-US" dirty="0"/>
          </a:p>
          <a:p>
            <a:r>
              <a:rPr lang="en-US" dirty="0"/>
              <a:t>All documentation links and additional resources are available in the project repository for anyone who wants to reproduce or extend this work.</a:t>
            </a:r>
          </a:p>
        </p:txBody>
      </p:sp>
    </p:spTree>
    <p:extLst>
      <p:ext uri="{BB962C8B-B14F-4D97-AF65-F5344CB8AC3E}">
        <p14:creationId xmlns:p14="http://schemas.microsoft.com/office/powerpoint/2010/main" val="2367971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01AE-3F50-CDFF-EB07-86250AC25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F4015D-62C3-749B-E69E-A6489372B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65345-7F6C-83A0-64FF-8F9C8B88B876}"/>
              </a:ext>
            </a:extLst>
          </p:cNvPr>
          <p:cNvSpPr>
            <a:spLocks noGrp="1"/>
          </p:cNvSpPr>
          <p:nvPr>
            <p:ph type="body" idx="1"/>
          </p:nvPr>
        </p:nvSpPr>
        <p:spPr/>
        <p:txBody>
          <a:bodyPr/>
          <a:lstStyle/>
          <a:p>
            <a:r>
              <a:rPr lang="en-US" dirty="0"/>
              <a:t>This final appendix lists the key references and resources used in this project.</a:t>
            </a:r>
          </a:p>
          <a:p>
            <a:endParaRPr lang="en-US" dirty="0"/>
          </a:p>
          <a:p>
            <a:r>
              <a:rPr lang="en-US" dirty="0"/>
              <a:t>The IBM Cost of Data Breach Report 2024 provided the $4.45 million average breach cost figure and other industry benchmarks that frame the business case.</a:t>
            </a:r>
          </a:p>
          <a:p>
            <a:endParaRPr lang="en-US" dirty="0"/>
          </a:p>
          <a:p>
            <a:r>
              <a:rPr lang="en-US" dirty="0"/>
              <a:t>The NIST National Vulnerability Database was our primary source for all 100 real CVE entries—providing severity scores, descriptions, affected products, and references.</a:t>
            </a:r>
          </a:p>
          <a:p>
            <a:endParaRPr lang="en-US" dirty="0"/>
          </a:p>
          <a:p>
            <a:r>
              <a:rPr lang="en-US" dirty="0"/>
              <a:t>LangFlow documentation was essential for building the visual agent orchestration workflows and understanding component capabilities and limitations.</a:t>
            </a:r>
          </a:p>
          <a:p>
            <a:endParaRPr lang="en-US" dirty="0"/>
          </a:p>
          <a:p>
            <a:r>
              <a:rPr lang="en-US" dirty="0"/>
              <a:t>The Claude API documentation guided our agent prompt engineering, structured output configuration, and token optimization strategies.</a:t>
            </a:r>
          </a:p>
          <a:p>
            <a:endParaRPr lang="en-US" dirty="0"/>
          </a:p>
          <a:p>
            <a:r>
              <a:rPr lang="en-US" dirty="0"/>
              <a:t>ChromaDB documentation helped us implement efficient vector storage, embedding strategies, and similarity search tuning.</a:t>
            </a:r>
          </a:p>
          <a:p>
            <a:endParaRPr lang="en-US" dirty="0"/>
          </a:p>
          <a:p>
            <a:r>
              <a:rPr lang="en-US" dirty="0"/>
              <a:t>All documentation links and additional resources are available in the project repository for anyone who wants to reproduce or extend this work.</a:t>
            </a:r>
          </a:p>
        </p:txBody>
      </p:sp>
    </p:spTree>
    <p:extLst>
      <p:ext uri="{BB962C8B-B14F-4D97-AF65-F5344CB8AC3E}">
        <p14:creationId xmlns:p14="http://schemas.microsoft.com/office/powerpoint/2010/main" val="1120038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8229600" cy="1371600"/>
          </a:xfrm>
          <a:prstGeom prst="rect">
            <a:avLst/>
          </a:prstGeom>
          <a:noFill/>
        </p:spPr>
        <p:txBody>
          <a:bodyPr wrap="none">
            <a:spAutoFit/>
          </a:bodyPr>
          <a:lstStyle/>
          <a:p>
            <a:pPr algn="ctr">
              <a:defRPr sz="5400" b="1">
                <a:solidFill>
                  <a:srgbClr val="FFFFFF"/>
                </a:solidFill>
              </a:defRPr>
            </a:pPr>
            <a:r>
              <a:rPr lang="en-NZ" dirty="0" err="1"/>
              <a:t>ThreatSync</a:t>
            </a:r>
            <a:r>
              <a:rPr lang="en-NZ" dirty="0"/>
              <a:t> AI</a:t>
            </a:r>
          </a:p>
        </p:txBody>
      </p:sp>
      <p:sp>
        <p:nvSpPr>
          <p:cNvPr id="3" name="TextBox 2"/>
          <p:cNvSpPr txBox="1"/>
          <p:nvPr/>
        </p:nvSpPr>
        <p:spPr>
          <a:xfrm>
            <a:off x="457200" y="3291840"/>
            <a:ext cx="8229600" cy="548640"/>
          </a:xfrm>
          <a:prstGeom prst="rect">
            <a:avLst/>
          </a:prstGeom>
          <a:noFill/>
        </p:spPr>
        <p:txBody>
          <a:bodyPr wrap="none">
            <a:spAutoFit/>
          </a:bodyPr>
          <a:lstStyle/>
          <a:p>
            <a:pPr algn="ctr">
              <a:defRPr sz="2400">
                <a:solidFill>
                  <a:srgbClr val="CADCFC"/>
                </a:solidFill>
              </a:defRPr>
            </a:pPr>
            <a:r>
              <a:rPr lang="en-US"/>
              <a:t>Agentic RAG for Cybersecurity Threat Intelligence</a:t>
            </a:r>
          </a:p>
        </p:txBody>
      </p:sp>
      <p:sp>
        <p:nvSpPr>
          <p:cNvPr id="4" name="TextBox 3"/>
          <p:cNvSpPr txBox="1"/>
          <p:nvPr/>
        </p:nvSpPr>
        <p:spPr>
          <a:xfrm>
            <a:off x="457200" y="4572000"/>
            <a:ext cx="8229600" cy="914400"/>
          </a:xfrm>
          <a:prstGeom prst="rect">
            <a:avLst/>
          </a:prstGeom>
          <a:noFill/>
        </p:spPr>
        <p:txBody>
          <a:bodyPr wrap="none">
            <a:spAutoFit/>
          </a:bodyPr>
          <a:lstStyle/>
          <a:p>
            <a:pPr algn="ctr">
              <a:defRPr sz="1400">
                <a:solidFill>
                  <a:srgbClr val="02C39A"/>
                </a:solidFill>
              </a:defRPr>
            </a:pPr>
            <a:r>
              <a:rPr lang="en-NZ"/>
              <a:t>Capstone Project</a:t>
            </a:r>
            <a:br>
              <a:rPr lang="en-NZ"/>
            </a:br>
            <a:r>
              <a:rPr lang="en-NZ"/>
              <a:t>ELVTR - AI Solutions Architect Program</a:t>
            </a:r>
          </a:p>
        </p:txBody>
      </p:sp>
    </p:spTree>
    <p:extLst>
      <p:ext uri="{BB962C8B-B14F-4D97-AF65-F5344CB8AC3E}">
        <p14:creationId xmlns:p14="http://schemas.microsoft.com/office/powerpoint/2010/main" val="453898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Slid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THE PROBLEM</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Setting the Stage</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20" name="StatBox"/>
          <p:cNvSpPr/>
          <p:nvPr/>
        </p:nvSpPr>
        <p:spPr>
          <a:xfrm>
            <a:off x="457200" y="1219200"/>
            <a:ext cx="3556000" cy="3556000"/>
          </a:xfrm>
          <a:prstGeom prst="roundRect">
            <a:avLst>
              <a:gd name="adj" fmla="val 5000"/>
            </a:avLst>
          </a:prstGeom>
          <a:solidFill>
            <a:srgbClr val="0D1B3E"/>
          </a:solidFill>
          <a:ln w="19050">
            <a:solidFill>
              <a:srgbClr val="02C39A"/>
            </a:solidFill>
          </a:ln>
        </p:spPr>
        <p:txBody>
          <a:bodyPr/>
          <a:lstStyle/>
          <a:p>
            <a:endParaRPr lang="en-US"/>
          </a:p>
        </p:txBody>
      </p:sp>
      <p:sp>
        <p:nvSpPr>
          <p:cNvPr id="21" name="BigNumber"/>
          <p:cNvSpPr txBox="1"/>
          <p:nvPr/>
        </p:nvSpPr>
        <p:spPr>
          <a:xfrm>
            <a:off x="584200" y="1397000"/>
            <a:ext cx="3302000" cy="1016000"/>
          </a:xfrm>
          <a:prstGeom prst="rect">
            <a:avLst/>
          </a:prstGeom>
          <a:noFill/>
        </p:spPr>
        <p:txBody>
          <a:bodyPr wrap="square" rtlCol="0" anchor="ctr"/>
          <a:lstStyle/>
          <a:p>
            <a:pPr algn="ctr">
              <a:buNone/>
            </a:pPr>
            <a:r>
              <a:rPr lang="en-US" sz="5600" b="1" dirty="0">
                <a:solidFill>
                  <a:srgbClr val="FFFFFF"/>
                </a:solidFill>
                <a:latin typeface="Calibri"/>
              </a:rPr>
              <a:t>$4.45M</a:t>
            </a:r>
          </a:p>
        </p:txBody>
      </p:sp>
      <p:sp>
        <p:nvSpPr>
          <p:cNvPr id="22" name="StatCaption"/>
          <p:cNvSpPr txBox="1"/>
          <p:nvPr/>
        </p:nvSpPr>
        <p:spPr>
          <a:xfrm>
            <a:off x="711200" y="2476500"/>
            <a:ext cx="3048000" cy="889000"/>
          </a:xfrm>
          <a:prstGeom prst="rect">
            <a:avLst/>
          </a:prstGeom>
          <a:noFill/>
        </p:spPr>
        <p:txBody>
          <a:bodyPr wrap="square" rtlCol="0" anchor="t"/>
          <a:lstStyle/>
          <a:p>
            <a:pPr algn="ctr">
              <a:buNone/>
            </a:pPr>
            <a:r>
              <a:rPr lang="en-US" sz="1600" dirty="0">
                <a:solidFill>
                  <a:srgbClr val="CADCFC"/>
                </a:solidFill>
                <a:latin typeface="Calibri"/>
              </a:rPr>
              <a:t>Average cost per data breach</a:t>
            </a:r>
          </a:p>
          <a:p>
            <a:pPr algn="ctr">
              <a:buNone/>
            </a:pPr>
            <a:r>
              <a:rPr lang="en-US" sz="1400" i="1" dirty="0">
                <a:solidFill>
                  <a:srgbClr val="02C39A"/>
                </a:solidFill>
                <a:latin typeface="Calibri"/>
              </a:rPr>
              <a:t>IBM Security Report, 2024</a:t>
            </a:r>
          </a:p>
        </p:txBody>
      </p:sp>
      <p:sp>
        <p:nvSpPr>
          <p:cNvPr id="23" name="PerIncident"/>
          <p:cNvSpPr txBox="1"/>
          <p:nvPr/>
        </p:nvSpPr>
        <p:spPr>
          <a:xfrm>
            <a:off x="1092200" y="3556000"/>
            <a:ext cx="2286000" cy="381000"/>
          </a:xfrm>
          <a:prstGeom prst="roundRect">
            <a:avLst>
              <a:gd name="adj" fmla="val 16667"/>
            </a:avLst>
          </a:prstGeom>
          <a:solidFill>
            <a:srgbClr val="02C39A"/>
          </a:solidFill>
          <a:ln>
            <a:noFill/>
          </a:ln>
        </p:spPr>
        <p:txBody>
          <a:bodyPr wrap="square" lIns="0" tIns="0" rIns="0" bIns="0" rtlCol="0" anchor="ctr"/>
          <a:lstStyle/>
          <a:p>
            <a:pPr algn="ctr">
              <a:buNone/>
            </a:pPr>
            <a:r>
              <a:rPr lang="en-US" sz="1400" b="1" dirty="0">
                <a:solidFill>
                  <a:srgbClr val="1E2761"/>
                </a:solidFill>
                <a:latin typeface="Calibri"/>
              </a:rPr>
              <a:t>PER INCIDENT</a:t>
            </a:r>
          </a:p>
        </p:txBody>
      </p:sp>
      <p:sp>
        <p:nvSpPr>
          <p:cNvPr id="31" name="Prob1Text"/>
          <p:cNvSpPr txBox="1"/>
          <p:nvPr/>
        </p:nvSpPr>
        <p:spPr>
          <a:xfrm>
            <a:off x="4978400" y="1219200"/>
            <a:ext cx="3759200" cy="1397000"/>
          </a:xfrm>
          <a:prstGeom prst="rect">
            <a:avLst/>
          </a:prstGeom>
          <a:noFill/>
        </p:spPr>
        <p:txBody>
          <a:bodyPr wrap="square" rtlCol="0" anchor="t"/>
          <a:lstStyle/>
          <a:p>
            <a:pPr algn="l">
              <a:buNone/>
            </a:pPr>
            <a:r>
              <a:rPr lang="en-US" sz="1800" b="1" dirty="0">
                <a:solidFill>
                  <a:srgbClr val="FFFFFF"/>
                </a:solidFill>
                <a:latin typeface="Calibri"/>
              </a:rPr>
              <a:t>Delayed Response</a:t>
            </a:r>
          </a:p>
          <a:p>
            <a:pPr algn="l">
              <a:buNone/>
            </a:pPr>
            <a:r>
              <a:rPr lang="en-US" sz="1400" dirty="0">
                <a:solidFill>
                  <a:srgbClr val="CADCFC"/>
                </a:solidFill>
                <a:latin typeface="Calibri"/>
              </a:rPr>
              <a:t>24-48h lag between CVE publication and analyst review</a:t>
            </a:r>
          </a:p>
        </p:txBody>
      </p:sp>
      <p:sp>
        <p:nvSpPr>
          <p:cNvPr id="33" name="Prob2Text"/>
          <p:cNvSpPr txBox="1"/>
          <p:nvPr/>
        </p:nvSpPr>
        <p:spPr>
          <a:xfrm>
            <a:off x="4978400" y="2870200"/>
            <a:ext cx="3759200" cy="1397000"/>
          </a:xfrm>
          <a:prstGeom prst="rect">
            <a:avLst/>
          </a:prstGeom>
          <a:noFill/>
        </p:spPr>
        <p:txBody>
          <a:bodyPr wrap="square" rtlCol="0" anchor="t"/>
          <a:lstStyle/>
          <a:p>
            <a:pPr algn="l">
              <a:buNone/>
            </a:pPr>
            <a:r>
              <a:rPr lang="en-US" sz="1800" b="1" dirty="0">
                <a:solidFill>
                  <a:srgbClr val="FFFFFF"/>
                </a:solidFill>
                <a:latin typeface="Calibri"/>
              </a:rPr>
              <a:t>Manual Triage</a:t>
            </a:r>
          </a:p>
          <a:p>
            <a:pPr algn="l">
              <a:buNone/>
            </a:pPr>
            <a:r>
              <a:rPr lang="en-US" sz="1400" dirty="0">
                <a:solidFill>
                  <a:srgbClr val="CADCFC"/>
                </a:solidFill>
                <a:latin typeface="Calibri"/>
              </a:rPr>
              <a:t>Security analysts spend 60% of time on routine vulnerability assessment</a:t>
            </a:r>
          </a:p>
        </p:txBody>
      </p:sp>
      <p:sp>
        <p:nvSpPr>
          <p:cNvPr id="35" name="Prob3Text"/>
          <p:cNvSpPr txBox="1"/>
          <p:nvPr/>
        </p:nvSpPr>
        <p:spPr>
          <a:xfrm>
            <a:off x="4978400" y="4521200"/>
            <a:ext cx="3759200" cy="1524000"/>
          </a:xfrm>
          <a:prstGeom prst="rect">
            <a:avLst/>
          </a:prstGeom>
          <a:noFill/>
        </p:spPr>
        <p:txBody>
          <a:bodyPr wrap="square" rtlCol="0" anchor="t"/>
          <a:lstStyle/>
          <a:p>
            <a:pPr algn="l">
              <a:buNone/>
            </a:pPr>
            <a:r>
              <a:rPr lang="en-US" sz="1800" b="1" dirty="0">
                <a:solidFill>
                  <a:srgbClr val="FFFFFF"/>
                </a:solidFill>
                <a:latin typeface="Calibri"/>
              </a:rPr>
              <a:t>Poor Prioritization</a:t>
            </a:r>
          </a:p>
          <a:p>
            <a:pPr algn="l">
              <a:buNone/>
            </a:pPr>
            <a:r>
              <a:rPr lang="en-US" sz="1400" dirty="0">
                <a:solidFill>
                  <a:srgbClr val="CADCFC"/>
                </a:solidFill>
                <a:latin typeface="Calibri"/>
              </a:rPr>
              <a:t>80% of patches applied to non-critical systems while high-risk assets remain vulnerable</a:t>
            </a:r>
          </a:p>
        </p:txBody>
      </p:sp>
      <p:sp>
        <p:nvSpPr>
          <p:cNvPr id="40" name="Divider1"/>
          <p:cNvSpPr/>
          <p:nvPr/>
        </p:nvSpPr>
        <p:spPr>
          <a:xfrm>
            <a:off x="4318000" y="2692400"/>
            <a:ext cx="4419600" cy="0"/>
          </a:xfrm>
          <a:prstGeom prst="line">
            <a:avLst/>
          </a:prstGeom>
          <a:ln w="6350">
            <a:solidFill>
              <a:srgbClr val="3A4A7F"/>
            </a:solidFill>
          </a:ln>
        </p:spPr>
        <p:txBody>
          <a:bodyPr/>
          <a:lstStyle/>
          <a:p>
            <a:endParaRPr lang="en-US"/>
          </a:p>
        </p:txBody>
      </p:sp>
      <p:sp>
        <p:nvSpPr>
          <p:cNvPr id="41" name="Divider2"/>
          <p:cNvSpPr/>
          <p:nvPr/>
        </p:nvSpPr>
        <p:spPr>
          <a:xfrm>
            <a:off x="4318000" y="4343400"/>
            <a:ext cx="4419600" cy="0"/>
          </a:xfrm>
          <a:prstGeom prst="line">
            <a:avLst/>
          </a:prstGeom>
          <a:ln w="6350">
            <a:solidFill>
              <a:srgbClr val="3A4A7F"/>
            </a:solidFill>
          </a:ln>
        </p:spPr>
        <p:txBody>
          <a:bodyPr/>
          <a:lstStyle/>
          <a:p>
            <a:endParaRPr lang="en-US"/>
          </a:p>
        </p:txBody>
      </p:sp>
      <p:sp>
        <p:nvSpPr>
          <p:cNvPr id="42" name="VertDivider"/>
          <p:cNvSpPr/>
          <p:nvPr/>
        </p:nvSpPr>
        <p:spPr>
          <a:xfrm>
            <a:off x="4165600" y="1219200"/>
            <a:ext cx="0" cy="4826000"/>
          </a:xfrm>
          <a:prstGeom prst="line">
            <a:avLst/>
          </a:prstGeom>
          <a:ln w="6350">
            <a:solidFill>
              <a:srgbClr val="3A4A7F"/>
            </a:solidFill>
          </a:ln>
        </p:spPr>
        <p:txBody>
          <a:bodyPr/>
          <a:lstStyle/>
          <a:p>
            <a:endParaRPr lang="en-US"/>
          </a:p>
        </p:txBody>
      </p:sp>
      <p:pic>
        <p:nvPicPr>
          <p:cNvPr id="43" name="Graphic 43" descr="Warning icon for Delayed Respons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3400" y="1663700"/>
            <a:ext cx="508000" cy="508000"/>
          </a:xfrm>
          <a:prstGeom prst="rect">
            <a:avLst/>
          </a:prstGeom>
        </p:spPr>
      </p:pic>
      <p:pic>
        <p:nvPicPr>
          <p:cNvPr id="44" name="Graphic 44" descr="Search icon for Manual Triage"/>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3400" y="3314700"/>
            <a:ext cx="508000" cy="508000"/>
          </a:xfrm>
          <a:prstGeom prst="rect">
            <a:avLst/>
          </a:prstGeom>
        </p:spPr>
      </p:pic>
      <p:pic>
        <p:nvPicPr>
          <p:cNvPr id="45" name="Graphic 45" descr="Chart icon for Poor Prioritizati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43400" y="5029200"/>
            <a:ext cx="508000" cy="508000"/>
          </a:xfrm>
          <a:prstGeom prst="rect">
            <a:avLst/>
          </a:prstGeom>
        </p:spPr>
      </p:pic>
    </p:spTree>
    <p:extLst>
      <p:ext uri="{BB962C8B-B14F-4D97-AF65-F5344CB8AC3E}">
        <p14:creationId xmlns:p14="http://schemas.microsoft.com/office/powerpoint/2010/main" val="415843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WHY AGENTIC RAG?</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Setting the Stage</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20" name="LeftCard"/>
          <p:cNvSpPr/>
          <p:nvPr/>
        </p:nvSpPr>
        <p:spPr>
          <a:xfrm>
            <a:off x="457200" y="1219200"/>
            <a:ext cx="4038600" cy="5207000"/>
          </a:xfrm>
          <a:prstGeom prst="roundRect">
            <a:avLst>
              <a:gd name="adj" fmla="val 3000"/>
            </a:avLst>
          </a:prstGeom>
          <a:solidFill>
            <a:srgbClr val="2A2A3E"/>
          </a:solidFill>
          <a:ln w="19050">
            <a:solidFill>
              <a:srgbClr val="FF6B6B"/>
            </a:solidFill>
          </a:ln>
        </p:spPr>
        <p:txBody>
          <a:bodyPr/>
          <a:lstStyle/>
          <a:p>
            <a:endParaRPr lang="en-US"/>
          </a:p>
        </p:txBody>
      </p:sp>
      <p:sp>
        <p:nvSpPr>
          <p:cNvPr id="21" name="LeftHeader"/>
          <p:cNvSpPr txBox="1"/>
          <p:nvPr/>
        </p:nvSpPr>
        <p:spPr>
          <a:xfrm>
            <a:off x="711200" y="1371600"/>
            <a:ext cx="3530600" cy="457200"/>
          </a:xfrm>
          <a:prstGeom prst="rect">
            <a:avLst/>
          </a:prstGeom>
          <a:noFill/>
        </p:spPr>
        <p:txBody>
          <a:bodyPr wrap="square" rtlCol="0"/>
          <a:lstStyle/>
          <a:p>
            <a:pPr algn="l">
              <a:buNone/>
            </a:pPr>
            <a:r>
              <a:rPr lang="en-US" sz="2000" b="1" dirty="0">
                <a:solidFill>
                  <a:srgbClr val="FF6B6B"/>
                </a:solidFill>
                <a:latin typeface="Calibri"/>
              </a:rPr>
              <a:t>Traditional Approach</a:t>
            </a:r>
          </a:p>
        </p:txBody>
      </p:sp>
      <p:sp>
        <p:nvSpPr>
          <p:cNvPr id="22" name="LeftItems"/>
          <p:cNvSpPr txBox="1"/>
          <p:nvPr/>
        </p:nvSpPr>
        <p:spPr>
          <a:xfrm>
            <a:off x="711200" y="1981200"/>
            <a:ext cx="3530600" cy="4191000"/>
          </a:xfrm>
          <a:prstGeom prst="rect">
            <a:avLst/>
          </a:prstGeom>
          <a:noFill/>
        </p:spPr>
        <p:txBody>
          <a:bodyPr wrap="square" rtlCol="0"/>
          <a:lstStyle/>
          <a:p>
            <a:pPr algn="l">
              <a:buNone/>
            </a:pPr>
            <a:r>
              <a:rPr lang="en-US" sz="1600" dirty="0">
                <a:solidFill>
                  <a:srgbClr val="FF6B6B"/>
                </a:solidFill>
                <a:latin typeface="Calibri"/>
              </a:rPr>
              <a:t>✖  </a:t>
            </a:r>
            <a:r>
              <a:rPr lang="en-US" sz="1600" dirty="0">
                <a:solidFill>
                  <a:srgbClr val="CADCFC"/>
                </a:solidFill>
                <a:latin typeface="Calibri"/>
              </a:rPr>
              <a:t>Manual CVE review</a:t>
            </a:r>
          </a:p>
          <a:p>
            <a:pPr algn="l">
              <a:buNone/>
            </a:pPr>
            <a:r>
              <a:rPr lang="en-US" sz="1600" dirty="0">
                <a:solidFill>
                  <a:srgbClr val="FF6B6B"/>
                </a:solidFill>
                <a:latin typeface="Calibri"/>
              </a:rPr>
              <a:t>✖  </a:t>
            </a:r>
            <a:r>
              <a:rPr lang="en-US" sz="1600" dirty="0">
                <a:solidFill>
                  <a:srgbClr val="CADCFC"/>
                </a:solidFill>
                <a:latin typeface="Calibri"/>
              </a:rPr>
              <a:t>Static playbooks</a:t>
            </a:r>
          </a:p>
          <a:p>
            <a:pPr algn="l">
              <a:buNone/>
            </a:pPr>
            <a:r>
              <a:rPr lang="en-US" sz="1600" dirty="0">
                <a:solidFill>
                  <a:srgbClr val="FF6B6B"/>
                </a:solidFill>
                <a:latin typeface="Calibri"/>
              </a:rPr>
              <a:t>✖  </a:t>
            </a:r>
            <a:r>
              <a:rPr lang="en-US" sz="1600" dirty="0">
                <a:solidFill>
                  <a:srgbClr val="CADCFC"/>
                </a:solidFill>
                <a:latin typeface="Calibri"/>
              </a:rPr>
              <a:t>Siloed data sources</a:t>
            </a:r>
          </a:p>
          <a:p>
            <a:pPr algn="l">
              <a:buNone/>
            </a:pPr>
            <a:r>
              <a:rPr lang="en-US" sz="1600" dirty="0">
                <a:solidFill>
                  <a:srgbClr val="FF6B6B"/>
                </a:solidFill>
                <a:latin typeface="Calibri"/>
              </a:rPr>
              <a:t>✖  </a:t>
            </a:r>
            <a:r>
              <a:rPr lang="en-US" sz="1600" dirty="0">
                <a:solidFill>
                  <a:srgbClr val="CADCFC"/>
                </a:solidFill>
                <a:latin typeface="Calibri"/>
              </a:rPr>
              <a:t>Reactive response</a:t>
            </a:r>
          </a:p>
          <a:p>
            <a:pPr algn="l">
              <a:buNone/>
            </a:pPr>
            <a:r>
              <a:rPr lang="en-US" sz="1600" dirty="0">
                <a:solidFill>
                  <a:srgbClr val="FF6B6B"/>
                </a:solidFill>
                <a:latin typeface="Calibri"/>
              </a:rPr>
              <a:t>✖  </a:t>
            </a:r>
            <a:r>
              <a:rPr lang="en-US" sz="1600" dirty="0">
                <a:solidFill>
                  <a:srgbClr val="CADCFC"/>
                </a:solidFill>
                <a:latin typeface="Calibri"/>
              </a:rPr>
              <a:t>No context correlation</a:t>
            </a:r>
          </a:p>
        </p:txBody>
      </p:sp>
      <p:sp>
        <p:nvSpPr>
          <p:cNvPr id="30" name="RightCard"/>
          <p:cNvSpPr/>
          <p:nvPr/>
        </p:nvSpPr>
        <p:spPr>
          <a:xfrm>
            <a:off x="4648200" y="1219200"/>
            <a:ext cx="4038600" cy="5207000"/>
          </a:xfrm>
          <a:prstGeom prst="roundRect">
            <a:avLst>
              <a:gd name="adj" fmla="val 3000"/>
            </a:avLst>
          </a:prstGeom>
          <a:solidFill>
            <a:srgbClr val="0A3D3D"/>
          </a:solidFill>
          <a:ln w="19050">
            <a:solidFill>
              <a:srgbClr val="02C39A"/>
            </a:solidFill>
          </a:ln>
        </p:spPr>
        <p:txBody>
          <a:bodyPr/>
          <a:lstStyle/>
          <a:p>
            <a:endParaRPr lang="en-US"/>
          </a:p>
        </p:txBody>
      </p:sp>
      <p:sp>
        <p:nvSpPr>
          <p:cNvPr id="31" name="RightHeader"/>
          <p:cNvSpPr txBox="1"/>
          <p:nvPr/>
        </p:nvSpPr>
        <p:spPr>
          <a:xfrm>
            <a:off x="4902200" y="1371600"/>
            <a:ext cx="3530600" cy="457200"/>
          </a:xfrm>
          <a:prstGeom prst="rect">
            <a:avLst/>
          </a:prstGeom>
          <a:noFill/>
        </p:spPr>
        <p:txBody>
          <a:bodyPr wrap="square" rtlCol="0"/>
          <a:lstStyle/>
          <a:p>
            <a:pPr algn="l">
              <a:buNone/>
            </a:pPr>
            <a:r>
              <a:rPr lang="en-US" sz="2000" b="1" dirty="0">
                <a:solidFill>
                  <a:srgbClr val="02C39A"/>
                </a:solidFill>
                <a:latin typeface="Calibri"/>
              </a:rPr>
              <a:t>Agentic RAG Approach</a:t>
            </a:r>
          </a:p>
        </p:txBody>
      </p:sp>
      <p:sp>
        <p:nvSpPr>
          <p:cNvPr id="32" name="RightItems"/>
          <p:cNvSpPr txBox="1"/>
          <p:nvPr/>
        </p:nvSpPr>
        <p:spPr>
          <a:xfrm>
            <a:off x="4902200" y="1981200"/>
            <a:ext cx="3530600" cy="4191000"/>
          </a:xfrm>
          <a:prstGeom prst="rect">
            <a:avLst/>
          </a:prstGeom>
          <a:noFill/>
        </p:spPr>
        <p:txBody>
          <a:bodyPr wrap="square" rtlCol="0"/>
          <a:lstStyle/>
          <a:p>
            <a:pPr algn="l">
              <a:buNone/>
            </a:pPr>
            <a:r>
              <a:rPr lang="en-US" sz="1600" dirty="0">
                <a:solidFill>
                  <a:srgbClr val="02C39A"/>
                </a:solidFill>
                <a:latin typeface="Calibri"/>
              </a:rPr>
              <a:t>✔  </a:t>
            </a:r>
            <a:r>
              <a:rPr lang="en-US" sz="1600" dirty="0">
                <a:solidFill>
                  <a:srgbClr val="FFFFFF"/>
                </a:solidFill>
                <a:latin typeface="Calibri"/>
              </a:rPr>
              <a:t>Automated threat analysis</a:t>
            </a:r>
          </a:p>
          <a:p>
            <a:pPr algn="l">
              <a:buNone/>
            </a:pPr>
            <a:r>
              <a:rPr lang="en-US" sz="1600" dirty="0">
                <a:solidFill>
                  <a:srgbClr val="02C39A"/>
                </a:solidFill>
                <a:latin typeface="Calibri"/>
              </a:rPr>
              <a:t>✔  </a:t>
            </a:r>
            <a:r>
              <a:rPr lang="en-US" sz="1600" dirty="0">
                <a:solidFill>
                  <a:srgbClr val="FFFFFF"/>
                </a:solidFill>
                <a:latin typeface="Calibri"/>
              </a:rPr>
              <a:t>Dynamic agent reasoning</a:t>
            </a:r>
          </a:p>
          <a:p>
            <a:pPr algn="l">
              <a:buNone/>
            </a:pPr>
            <a:r>
              <a:rPr lang="en-US" sz="1600" dirty="0">
                <a:solidFill>
                  <a:srgbClr val="02C39A"/>
                </a:solidFill>
                <a:latin typeface="Calibri"/>
              </a:rPr>
              <a:t>✔  </a:t>
            </a:r>
            <a:r>
              <a:rPr lang="en-US" sz="1600" dirty="0">
                <a:solidFill>
                  <a:srgbClr val="FFFFFF"/>
                </a:solidFill>
                <a:latin typeface="Calibri"/>
              </a:rPr>
              <a:t>Multi-source RAG retrieval</a:t>
            </a:r>
          </a:p>
          <a:p>
            <a:pPr algn="l">
              <a:buNone/>
            </a:pPr>
            <a:r>
              <a:rPr lang="en-US" sz="1600" dirty="0">
                <a:solidFill>
                  <a:srgbClr val="02C39A"/>
                </a:solidFill>
                <a:latin typeface="Calibri"/>
              </a:rPr>
              <a:t>✔  </a:t>
            </a:r>
            <a:r>
              <a:rPr lang="en-US" sz="1600" dirty="0">
                <a:solidFill>
                  <a:srgbClr val="FFFFFF"/>
                </a:solidFill>
                <a:latin typeface="Calibri"/>
              </a:rPr>
              <a:t>Proactive risk prioritization</a:t>
            </a:r>
          </a:p>
          <a:p>
            <a:pPr algn="l">
              <a:buNone/>
            </a:pPr>
            <a:r>
              <a:rPr lang="en-US" sz="1600" dirty="0">
                <a:solidFill>
                  <a:srgbClr val="02C39A"/>
                </a:solidFill>
                <a:latin typeface="Calibri"/>
              </a:rPr>
              <a:t>✔  </a:t>
            </a:r>
            <a:r>
              <a:rPr lang="en-US" sz="1600" dirty="0">
                <a:solidFill>
                  <a:srgbClr val="FFFFFF"/>
                </a:solidFill>
                <a:latin typeface="Calibri"/>
              </a:rPr>
              <a:t>Context-aware correlation</a:t>
            </a:r>
          </a:p>
        </p:txBody>
      </p:sp>
      <p:sp>
        <p:nvSpPr>
          <p:cNvPr id="40" name="Arrow"/>
          <p:cNvSpPr/>
          <p:nvPr/>
        </p:nvSpPr>
        <p:spPr>
          <a:xfrm>
            <a:off x="4445000" y="3556000"/>
            <a:ext cx="304800" cy="304800"/>
          </a:xfrm>
          <a:prstGeom prst="rightArrow">
            <a:avLst/>
          </a:prstGeom>
          <a:solidFill>
            <a:srgbClr val="02C39A"/>
          </a:solidFill>
          <a:ln>
            <a:noFill/>
          </a:ln>
        </p:spPr>
        <p:txBody>
          <a:bodyPr/>
          <a:lstStyle/>
          <a:p>
            <a:endParaRPr lang="en-US"/>
          </a:p>
        </p:txBody>
      </p:sp>
    </p:spTree>
    <p:extLst>
      <p:ext uri="{BB962C8B-B14F-4D97-AF65-F5344CB8AC3E}">
        <p14:creationId xmlns:p14="http://schemas.microsoft.com/office/powerpoint/2010/main" val="1570663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SOLUTION OVERVIEW</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Setting the Stage</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20" name="Banner"/>
          <p:cNvSpPr/>
          <p:nvPr/>
        </p:nvSpPr>
        <p:spPr>
          <a:xfrm>
            <a:off x="457200" y="1219200"/>
            <a:ext cx="8229600" cy="965200"/>
          </a:xfrm>
          <a:prstGeom prst="roundRect">
            <a:avLst>
              <a:gd name="adj" fmla="val 5000"/>
            </a:avLst>
          </a:prstGeom>
          <a:solidFill>
            <a:srgbClr val="1A3A5C"/>
          </a:solidFill>
          <a:ln w="12700">
            <a:solidFill>
              <a:srgbClr val="02C39A"/>
            </a:solidFill>
          </a:ln>
        </p:spPr>
        <p:txBody>
          <a:bodyPr wrap="square" lIns="180000" rIns="180000" rtlCol="0" anchor="ctr"/>
          <a:lstStyle/>
          <a:p>
            <a:pPr algn="ctr">
              <a:buNone/>
            </a:pPr>
            <a:r>
              <a:rPr lang="en-US" sz="1600" i="1" dirty="0">
                <a:solidFill>
                  <a:srgbClr val="CADCFC"/>
                </a:solidFill>
                <a:latin typeface="Calibri"/>
              </a:rPr>
              <a:t>Multi-agent system that correlates CVE data with internal asset inventory to automatically prioritize vulnerabilities by business impact</a:t>
            </a:r>
          </a:p>
        </p:txBody>
      </p:sp>
      <p:sp>
        <p:nvSpPr>
          <p:cNvPr id="30" name="Card1"/>
          <p:cNvSpPr/>
          <p:nvPr/>
        </p:nvSpPr>
        <p:spPr>
          <a:xfrm>
            <a:off x="457200" y="2362200"/>
            <a:ext cx="4038600" cy="1968500"/>
          </a:xfrm>
          <a:prstGeom prst="roundRect">
            <a:avLst>
              <a:gd name="adj" fmla="val 5000"/>
            </a:avLst>
          </a:prstGeom>
          <a:solidFill>
            <a:srgbClr val="0D1B3E"/>
          </a:solidFill>
          <a:ln>
            <a:noFill/>
          </a:ln>
        </p:spPr>
        <p:txBody>
          <a:bodyPr wrap="square" lIns="144000" tIns="72000" rIns="144000" bIns="72000" rtlCol="0" anchor="ctr"/>
          <a:lstStyle/>
          <a:p>
            <a:pPr algn="l">
              <a:buNone/>
            </a:pPr>
            <a:r>
              <a:rPr lang="en-US" sz="1800" b="1" dirty="0">
                <a:solidFill>
                  <a:srgbClr val="02C39A"/>
                </a:solidFill>
                <a:latin typeface="Calibri"/>
              </a:rPr>
              <a:t>CVE Analysis</a:t>
            </a:r>
          </a:p>
          <a:p>
            <a:pPr algn="l">
              <a:buNone/>
            </a:pPr>
            <a:r>
              <a:rPr lang="en-US" sz="1400" dirty="0">
                <a:solidFill>
                  <a:srgbClr val="CADCFC"/>
                </a:solidFill>
                <a:latin typeface="Calibri"/>
              </a:rPr>
              <a:t>Semantic search of 100+ vulnerabilities from National Vulnerability Database (NVD)</a:t>
            </a:r>
          </a:p>
        </p:txBody>
      </p:sp>
      <p:sp>
        <p:nvSpPr>
          <p:cNvPr id="31" name="Card2"/>
          <p:cNvSpPr/>
          <p:nvPr/>
        </p:nvSpPr>
        <p:spPr>
          <a:xfrm>
            <a:off x="4648200" y="2362200"/>
            <a:ext cx="4038600" cy="1968500"/>
          </a:xfrm>
          <a:prstGeom prst="roundRect">
            <a:avLst>
              <a:gd name="adj" fmla="val 5000"/>
            </a:avLst>
          </a:prstGeom>
          <a:solidFill>
            <a:srgbClr val="0D1B3E"/>
          </a:solidFill>
          <a:ln>
            <a:noFill/>
          </a:ln>
        </p:spPr>
        <p:txBody>
          <a:bodyPr wrap="square" lIns="144000" tIns="72000" rIns="144000" bIns="72000" rtlCol="0" anchor="ctr"/>
          <a:lstStyle/>
          <a:p>
            <a:pPr algn="l">
              <a:buNone/>
            </a:pPr>
            <a:r>
              <a:rPr lang="en-US" sz="1800" b="1" dirty="0">
                <a:solidFill>
                  <a:srgbClr val="02C39A"/>
                </a:solidFill>
                <a:latin typeface="Calibri"/>
              </a:rPr>
              <a:t>Asset Correlation</a:t>
            </a:r>
          </a:p>
          <a:p>
            <a:pPr algn="l">
              <a:buNone/>
            </a:pPr>
            <a:r>
              <a:rPr lang="en-US" sz="1400" dirty="0">
                <a:solidFill>
                  <a:srgbClr val="CADCFC"/>
                </a:solidFill>
                <a:latin typeface="Calibri"/>
              </a:rPr>
              <a:t>Maps vulnerabilities to 25 internal systems</a:t>
            </a:r>
          </a:p>
        </p:txBody>
      </p:sp>
      <p:sp>
        <p:nvSpPr>
          <p:cNvPr id="32" name="Card3"/>
          <p:cNvSpPr/>
          <p:nvPr/>
        </p:nvSpPr>
        <p:spPr>
          <a:xfrm>
            <a:off x="457200" y="4483100"/>
            <a:ext cx="4038600" cy="1968500"/>
          </a:xfrm>
          <a:prstGeom prst="roundRect">
            <a:avLst>
              <a:gd name="adj" fmla="val 5000"/>
            </a:avLst>
          </a:prstGeom>
          <a:solidFill>
            <a:srgbClr val="0D1B3E"/>
          </a:solidFill>
          <a:ln>
            <a:noFill/>
          </a:ln>
        </p:spPr>
        <p:txBody>
          <a:bodyPr wrap="square" lIns="144000" tIns="72000" rIns="144000" bIns="72000" rtlCol="0" anchor="ctr"/>
          <a:lstStyle/>
          <a:p>
            <a:pPr algn="l">
              <a:buNone/>
            </a:pPr>
            <a:r>
              <a:rPr lang="en-US" sz="1800" b="1" dirty="0">
                <a:solidFill>
                  <a:srgbClr val="02C39A"/>
                </a:solidFill>
                <a:latin typeface="Calibri"/>
              </a:rPr>
              <a:t>Risk Scoring</a:t>
            </a:r>
          </a:p>
          <a:p>
            <a:pPr algn="l">
              <a:buNone/>
            </a:pPr>
            <a:r>
              <a:rPr lang="en-US" sz="1400" dirty="0">
                <a:solidFill>
                  <a:srgbClr val="CADCFC"/>
                </a:solidFill>
                <a:latin typeface="Calibri"/>
              </a:rPr>
              <a:t>CVSS + Exploit + Asset criticality formula</a:t>
            </a:r>
          </a:p>
        </p:txBody>
      </p:sp>
      <p:sp>
        <p:nvSpPr>
          <p:cNvPr id="33" name="Card4"/>
          <p:cNvSpPr/>
          <p:nvPr/>
        </p:nvSpPr>
        <p:spPr>
          <a:xfrm>
            <a:off x="4648200" y="4483100"/>
            <a:ext cx="4038600" cy="1968500"/>
          </a:xfrm>
          <a:prstGeom prst="roundRect">
            <a:avLst>
              <a:gd name="adj" fmla="val 5000"/>
            </a:avLst>
          </a:prstGeom>
          <a:solidFill>
            <a:srgbClr val="0D1B3E"/>
          </a:solidFill>
          <a:ln>
            <a:noFill/>
          </a:ln>
        </p:spPr>
        <p:txBody>
          <a:bodyPr wrap="square" lIns="144000" tIns="72000" rIns="144000" bIns="72000" rtlCol="0" anchor="ctr"/>
          <a:lstStyle/>
          <a:p>
            <a:pPr algn="l">
              <a:buNone/>
            </a:pPr>
            <a:r>
              <a:rPr lang="en-US" sz="1800" b="1" dirty="0">
                <a:solidFill>
                  <a:srgbClr val="02C39A"/>
                </a:solidFill>
                <a:latin typeface="Calibri"/>
              </a:rPr>
              <a:t>Smart Routing</a:t>
            </a:r>
          </a:p>
          <a:p>
            <a:pPr algn="l">
              <a:buNone/>
            </a:pPr>
            <a:r>
              <a:rPr lang="en-US" sz="1400" dirty="0">
                <a:solidFill>
                  <a:srgbClr val="CADCFC"/>
                </a:solidFill>
                <a:latin typeface="Calibri"/>
              </a:rPr>
              <a:t>Conditional routing to specialist agents</a:t>
            </a:r>
          </a:p>
        </p:txBody>
      </p:sp>
      <p:pic>
        <p:nvPicPr>
          <p:cNvPr id="34" name="Graphic 34" descr="CVE Analysis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83000" y="2438400"/>
            <a:ext cx="457200" cy="457200"/>
          </a:xfrm>
          <a:prstGeom prst="rect">
            <a:avLst/>
          </a:prstGeom>
        </p:spPr>
      </p:pic>
      <p:pic>
        <p:nvPicPr>
          <p:cNvPr id="35" name="Graphic 35" descr="Asset Correlation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4000" y="2438400"/>
            <a:ext cx="457200" cy="457200"/>
          </a:xfrm>
          <a:prstGeom prst="rect">
            <a:avLst/>
          </a:prstGeom>
        </p:spPr>
      </p:pic>
      <p:pic>
        <p:nvPicPr>
          <p:cNvPr id="36" name="Graphic 36" descr="Risk Scoring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83000" y="4559300"/>
            <a:ext cx="457200" cy="457200"/>
          </a:xfrm>
          <a:prstGeom prst="rect">
            <a:avLst/>
          </a:prstGeom>
        </p:spPr>
      </p:pic>
      <p:pic>
        <p:nvPicPr>
          <p:cNvPr id="37" name="Graphic 37" descr="Smart Routing ico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74000" y="4559300"/>
            <a:ext cx="457200" cy="457200"/>
          </a:xfrm>
          <a:prstGeom prst="rect">
            <a:avLst/>
          </a:prstGeom>
        </p:spPr>
      </p:pic>
    </p:spTree>
    <p:extLst>
      <p:ext uri="{BB962C8B-B14F-4D97-AF65-F5344CB8AC3E}">
        <p14:creationId xmlns:p14="http://schemas.microsoft.com/office/powerpoint/2010/main" val="2540919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POC ARCHITECTURE</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Building an Agentic RAG POC</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20" name="DataLabel"/>
          <p:cNvSpPr/>
          <p:nvPr/>
        </p:nvSpPr>
        <p:spPr>
          <a:xfrm>
            <a:off x="457200" y="1219200"/>
            <a:ext cx="1397000" cy="1524000"/>
          </a:xfrm>
          <a:prstGeom prst="roundRect">
            <a:avLst>
              <a:gd name="adj" fmla="val 8000"/>
            </a:avLst>
          </a:prstGeom>
          <a:solidFill>
            <a:srgbClr val="02C39A"/>
          </a:solidFill>
          <a:ln>
            <a:noFill/>
          </a:ln>
        </p:spPr>
        <p:txBody>
          <a:bodyPr wrap="square" lIns="36000" rIns="36000" rtlCol="0" anchor="ctr"/>
          <a:lstStyle/>
          <a:p>
            <a:pPr algn="ctr">
              <a:buNone/>
            </a:pPr>
            <a:r>
              <a:rPr lang="en-US" sz="1600" b="1" dirty="0">
                <a:solidFill>
                  <a:srgbClr val="1E2761"/>
                </a:solidFill>
                <a:latin typeface="Calibri"/>
              </a:rPr>
              <a:t>DATA LAYER</a:t>
            </a:r>
          </a:p>
        </p:txBody>
      </p:sp>
      <p:sp>
        <p:nvSpPr>
          <p:cNvPr id="21" name="CVEDB"/>
          <p:cNvSpPr/>
          <p:nvPr/>
        </p:nvSpPr>
        <p:spPr>
          <a:xfrm>
            <a:off x="2032000" y="1219200"/>
            <a:ext cx="3200400" cy="1524000"/>
          </a:xfrm>
          <a:prstGeom prst="roundRect">
            <a:avLst>
              <a:gd name="adj" fmla="val 5000"/>
            </a:avLst>
          </a:prstGeom>
          <a:solidFill>
            <a:srgbClr val="0D1B3E"/>
          </a:solidFill>
          <a:ln w="12700">
            <a:solidFill>
              <a:srgbClr val="3A4A7F"/>
            </a:solidFill>
          </a:ln>
        </p:spPr>
        <p:txBody>
          <a:bodyPr wrap="square" lIns="108000" rIns="72000" rtlCol="0" anchor="ctr"/>
          <a:lstStyle/>
          <a:p>
            <a:pPr algn="l">
              <a:buNone/>
            </a:pPr>
            <a:r>
              <a:rPr lang="en-US" sz="1600" b="1" dirty="0">
                <a:solidFill>
                  <a:srgbClr val="FFFFFF"/>
                </a:solidFill>
                <a:latin typeface="Calibri"/>
              </a:rPr>
              <a:t>CVE Vector Database</a:t>
            </a:r>
          </a:p>
          <a:p>
            <a:pPr algn="l">
              <a:buNone/>
            </a:pPr>
            <a:r>
              <a:rPr lang="en-US" sz="1400" dirty="0">
                <a:solidFill>
                  <a:srgbClr val="CADCFC"/>
                </a:solidFill>
                <a:latin typeface="Calibri"/>
              </a:rPr>
              <a:t>100 vulnerabilities (NVD 2023-2025)</a:t>
            </a:r>
          </a:p>
          <a:p>
            <a:pPr algn="l">
              <a:buNone/>
            </a:pPr>
            <a:r>
              <a:rPr lang="en-US" sz="1400" dirty="0">
                <a:solidFill>
                  <a:srgbClr val="02C39A"/>
                </a:solidFill>
                <a:latin typeface="Calibri"/>
              </a:rPr>
              <a:t>ChromaDB + OpenAI Embeddings</a:t>
            </a:r>
          </a:p>
        </p:txBody>
      </p:sp>
      <p:sp>
        <p:nvSpPr>
          <p:cNvPr id="22" name="AssetDB"/>
          <p:cNvSpPr/>
          <p:nvPr/>
        </p:nvSpPr>
        <p:spPr>
          <a:xfrm>
            <a:off x="5384800" y="1219200"/>
            <a:ext cx="3302000" cy="1524000"/>
          </a:xfrm>
          <a:prstGeom prst="roundRect">
            <a:avLst>
              <a:gd name="adj" fmla="val 5000"/>
            </a:avLst>
          </a:prstGeom>
          <a:solidFill>
            <a:srgbClr val="0D1B3E"/>
          </a:solidFill>
          <a:ln w="12700">
            <a:solidFill>
              <a:srgbClr val="3A4A7F"/>
            </a:solidFill>
          </a:ln>
        </p:spPr>
        <p:txBody>
          <a:bodyPr wrap="square" lIns="108000" rIns="72000" rtlCol="0" anchor="ctr"/>
          <a:lstStyle/>
          <a:p>
            <a:pPr algn="l">
              <a:buNone/>
            </a:pPr>
            <a:r>
              <a:rPr lang="en-US" sz="1600" b="1" dirty="0">
                <a:solidFill>
                  <a:srgbClr val="FFFFFF"/>
                </a:solidFill>
                <a:latin typeface="Calibri"/>
              </a:rPr>
              <a:t>Asset Inventory Database</a:t>
            </a:r>
          </a:p>
          <a:p>
            <a:pPr algn="l">
              <a:buNone/>
            </a:pPr>
            <a:r>
              <a:rPr lang="en-US" sz="1400" dirty="0">
                <a:solidFill>
                  <a:srgbClr val="CADCFC"/>
                </a:solidFill>
                <a:latin typeface="Calibri"/>
              </a:rPr>
              <a:t>25 systems (text-based embeddings)</a:t>
            </a:r>
          </a:p>
          <a:p>
            <a:pPr algn="l">
              <a:buNone/>
            </a:pPr>
            <a:r>
              <a:rPr lang="en-US" sz="1400" dirty="0">
                <a:solidFill>
                  <a:srgbClr val="02C39A"/>
                </a:solidFill>
                <a:latin typeface="Calibri"/>
              </a:rPr>
              <a:t>ChromaDB + OpenAI Embeddings</a:t>
            </a:r>
          </a:p>
        </p:txBody>
      </p:sp>
      <p:sp>
        <p:nvSpPr>
          <p:cNvPr id="23" name="Arrow1"/>
          <p:cNvSpPr/>
          <p:nvPr/>
        </p:nvSpPr>
        <p:spPr>
          <a:xfrm>
            <a:off x="4419600" y="2794000"/>
            <a:ext cx="304800" cy="203200"/>
          </a:xfrm>
          <a:prstGeom prst="downArrow">
            <a:avLst/>
          </a:prstGeom>
          <a:solidFill>
            <a:srgbClr val="02C39A"/>
          </a:solidFill>
          <a:ln>
            <a:noFill/>
          </a:ln>
        </p:spPr>
        <p:txBody>
          <a:bodyPr/>
          <a:lstStyle/>
          <a:p>
            <a:endParaRPr lang="en-US"/>
          </a:p>
        </p:txBody>
      </p:sp>
      <p:sp>
        <p:nvSpPr>
          <p:cNvPr id="30" name="AgentLabel"/>
          <p:cNvSpPr/>
          <p:nvPr/>
        </p:nvSpPr>
        <p:spPr>
          <a:xfrm>
            <a:off x="457200" y="3073400"/>
            <a:ext cx="1397000" cy="1778000"/>
          </a:xfrm>
          <a:prstGeom prst="roundRect">
            <a:avLst>
              <a:gd name="adj" fmla="val 8000"/>
            </a:avLst>
          </a:prstGeom>
          <a:solidFill>
            <a:srgbClr val="3A86FF"/>
          </a:solidFill>
          <a:ln>
            <a:noFill/>
          </a:ln>
        </p:spPr>
        <p:txBody>
          <a:bodyPr wrap="square" lIns="36000" rIns="36000" rtlCol="0" anchor="ctr"/>
          <a:lstStyle/>
          <a:p>
            <a:pPr algn="ctr">
              <a:buNone/>
            </a:pPr>
            <a:r>
              <a:rPr lang="en-US" sz="1600" b="1" dirty="0">
                <a:solidFill>
                  <a:srgbClr val="FFFFFF"/>
                </a:solidFill>
                <a:latin typeface="Calibri"/>
              </a:rPr>
              <a:t>AGENT LAYER</a:t>
            </a:r>
          </a:p>
        </p:txBody>
      </p:sp>
      <p:sp>
        <p:nvSpPr>
          <p:cNvPr id="31" name="Agent1"/>
          <p:cNvSpPr/>
          <p:nvPr/>
        </p:nvSpPr>
        <p:spPr>
          <a:xfrm>
            <a:off x="2032000" y="3073400"/>
            <a:ext cx="1625600" cy="1778000"/>
          </a:xfrm>
          <a:prstGeom prst="roundRect">
            <a:avLst>
              <a:gd name="adj" fmla="val 5000"/>
            </a:avLst>
          </a:prstGeom>
          <a:solidFill>
            <a:srgbClr val="0D1B3E"/>
          </a:solidFill>
          <a:ln w="12700">
            <a:solidFill>
              <a:srgbClr val="3A86FF"/>
            </a:solidFill>
          </a:ln>
        </p:spPr>
        <p:txBody>
          <a:bodyPr wrap="square" lIns="54000" rIns="54000" rtlCol="0" anchor="ctr"/>
          <a:lstStyle/>
          <a:p>
            <a:pPr algn="ctr">
              <a:buNone/>
            </a:pPr>
            <a:r>
              <a:rPr lang="en-US" sz="1400" b="1" dirty="0">
                <a:solidFill>
                  <a:srgbClr val="FFFFFF"/>
                </a:solidFill>
                <a:latin typeface="Calibri"/>
              </a:rPr>
              <a:t>Scope Validator</a:t>
            </a:r>
          </a:p>
          <a:p>
            <a:pPr algn="ctr">
              <a:buNone/>
            </a:pPr>
            <a:r>
              <a:rPr lang="en-US" sz="1400" dirty="0">
                <a:solidFill>
                  <a:srgbClr val="CADCFC"/>
                </a:solidFill>
                <a:latin typeface="Calibri"/>
              </a:rPr>
              <a:t>Pre-filter malicious queries</a:t>
            </a:r>
          </a:p>
        </p:txBody>
      </p:sp>
      <p:sp>
        <p:nvSpPr>
          <p:cNvPr id="32" name="Agent2"/>
          <p:cNvSpPr/>
          <p:nvPr/>
        </p:nvSpPr>
        <p:spPr>
          <a:xfrm>
            <a:off x="3759200" y="3073400"/>
            <a:ext cx="1625600" cy="1778000"/>
          </a:xfrm>
          <a:prstGeom prst="roundRect">
            <a:avLst>
              <a:gd name="adj" fmla="val 5000"/>
            </a:avLst>
          </a:prstGeom>
          <a:solidFill>
            <a:srgbClr val="0D1B3E"/>
          </a:solidFill>
          <a:ln w="12700">
            <a:solidFill>
              <a:srgbClr val="3A86FF"/>
            </a:solidFill>
          </a:ln>
        </p:spPr>
        <p:txBody>
          <a:bodyPr wrap="square" lIns="54000" rIns="54000" rtlCol="0" anchor="ctr"/>
          <a:lstStyle/>
          <a:p>
            <a:pPr algn="ctr">
              <a:buNone/>
            </a:pPr>
            <a:r>
              <a:rPr lang="en-US" sz="1400" b="1" dirty="0">
                <a:solidFill>
                  <a:srgbClr val="FFFFFF"/>
                </a:solidFill>
                <a:latin typeface="Calibri"/>
              </a:rPr>
              <a:t>CVE Analysis</a:t>
            </a:r>
          </a:p>
          <a:p>
            <a:pPr algn="ctr">
              <a:buNone/>
            </a:pPr>
            <a:r>
              <a:rPr lang="en-US" sz="1400" dirty="0">
                <a:solidFill>
                  <a:srgbClr val="CADCFC"/>
                </a:solidFill>
                <a:latin typeface="Calibri"/>
              </a:rPr>
              <a:t>Retrieve vulnerability details</a:t>
            </a:r>
          </a:p>
        </p:txBody>
      </p:sp>
      <p:sp>
        <p:nvSpPr>
          <p:cNvPr id="33" name="Agent3"/>
          <p:cNvSpPr/>
          <p:nvPr/>
        </p:nvSpPr>
        <p:spPr>
          <a:xfrm>
            <a:off x="5486400" y="3073400"/>
            <a:ext cx="1625600" cy="1778000"/>
          </a:xfrm>
          <a:prstGeom prst="roundRect">
            <a:avLst>
              <a:gd name="adj" fmla="val 5000"/>
            </a:avLst>
          </a:prstGeom>
          <a:solidFill>
            <a:srgbClr val="0D1B3E"/>
          </a:solidFill>
          <a:ln w="12700">
            <a:solidFill>
              <a:srgbClr val="3A86FF"/>
            </a:solidFill>
          </a:ln>
        </p:spPr>
        <p:txBody>
          <a:bodyPr wrap="square" lIns="54000" rIns="54000" rtlCol="0" anchor="ctr"/>
          <a:lstStyle/>
          <a:p>
            <a:pPr algn="ctr">
              <a:buNone/>
            </a:pPr>
            <a:r>
              <a:rPr lang="en-US" sz="1400" b="1" dirty="0">
                <a:solidFill>
                  <a:srgbClr val="FFFFFF"/>
                </a:solidFill>
                <a:latin typeface="Calibri"/>
              </a:rPr>
              <a:t>Asset Inventory</a:t>
            </a:r>
          </a:p>
          <a:p>
            <a:pPr algn="ctr">
              <a:buNone/>
            </a:pPr>
            <a:r>
              <a:rPr lang="en-US" sz="1400" dirty="0">
                <a:solidFill>
                  <a:srgbClr val="CADCFC"/>
                </a:solidFill>
                <a:latin typeface="Calibri"/>
              </a:rPr>
              <a:t>Identify affected systems</a:t>
            </a:r>
          </a:p>
        </p:txBody>
      </p:sp>
      <p:sp>
        <p:nvSpPr>
          <p:cNvPr id="34" name="Agent4"/>
          <p:cNvSpPr/>
          <p:nvPr/>
        </p:nvSpPr>
        <p:spPr>
          <a:xfrm>
            <a:off x="7213600" y="3073400"/>
            <a:ext cx="1473200" cy="1778000"/>
          </a:xfrm>
          <a:prstGeom prst="roundRect">
            <a:avLst>
              <a:gd name="adj" fmla="val 5000"/>
            </a:avLst>
          </a:prstGeom>
          <a:solidFill>
            <a:srgbClr val="0D1B3E"/>
          </a:solidFill>
          <a:ln w="12700">
            <a:solidFill>
              <a:srgbClr val="3A86FF"/>
            </a:solidFill>
          </a:ln>
        </p:spPr>
        <p:txBody>
          <a:bodyPr wrap="square" lIns="54000" rIns="54000" rtlCol="0" anchor="ctr"/>
          <a:lstStyle/>
          <a:p>
            <a:pPr algn="ctr">
              <a:buNone/>
            </a:pPr>
            <a:r>
              <a:rPr lang="en-US" sz="1400" b="1" dirty="0">
                <a:solidFill>
                  <a:srgbClr val="FFFFFF"/>
                </a:solidFill>
                <a:latin typeface="Calibri"/>
              </a:rPr>
              <a:t>Risk Prioritization</a:t>
            </a:r>
          </a:p>
          <a:p>
            <a:pPr algn="ctr">
              <a:buNone/>
            </a:pPr>
            <a:r>
              <a:rPr lang="en-US" sz="1400" dirty="0">
                <a:solidFill>
                  <a:srgbClr val="CADCFC"/>
                </a:solidFill>
                <a:latin typeface="Calibri"/>
              </a:rPr>
              <a:t>Calculate risk scores</a:t>
            </a:r>
          </a:p>
        </p:txBody>
      </p:sp>
      <p:sp>
        <p:nvSpPr>
          <p:cNvPr id="35" name="Arrow2"/>
          <p:cNvSpPr/>
          <p:nvPr/>
        </p:nvSpPr>
        <p:spPr>
          <a:xfrm>
            <a:off x="4419600" y="4902200"/>
            <a:ext cx="304800" cy="203200"/>
          </a:xfrm>
          <a:prstGeom prst="downArrow">
            <a:avLst/>
          </a:prstGeom>
          <a:solidFill>
            <a:srgbClr val="02C39A"/>
          </a:solidFill>
          <a:ln>
            <a:noFill/>
          </a:ln>
        </p:spPr>
        <p:txBody>
          <a:bodyPr/>
          <a:lstStyle/>
          <a:p>
            <a:endParaRPr lang="en-US"/>
          </a:p>
        </p:txBody>
      </p:sp>
      <p:sp>
        <p:nvSpPr>
          <p:cNvPr id="40" name="OrchLabel"/>
          <p:cNvSpPr/>
          <p:nvPr/>
        </p:nvSpPr>
        <p:spPr>
          <a:xfrm>
            <a:off x="457200" y="5181600"/>
            <a:ext cx="1397000" cy="1270000"/>
          </a:xfrm>
          <a:prstGeom prst="roundRect">
            <a:avLst>
              <a:gd name="adj" fmla="val 8000"/>
            </a:avLst>
          </a:prstGeom>
          <a:solidFill>
            <a:srgbClr val="FF6B35"/>
          </a:solidFill>
          <a:ln>
            <a:noFill/>
          </a:ln>
        </p:spPr>
        <p:txBody>
          <a:bodyPr wrap="square" lIns="36000" rIns="36000" rtlCol="0" anchor="ctr"/>
          <a:lstStyle/>
          <a:p>
            <a:pPr algn="ctr">
              <a:buNone/>
            </a:pPr>
            <a:r>
              <a:rPr lang="en-US" sz="1400" b="1" dirty="0">
                <a:solidFill>
                  <a:srgbClr val="FFFFFF"/>
                </a:solidFill>
                <a:latin typeface="Calibri"/>
              </a:rPr>
              <a:t>ORCH.</a:t>
            </a:r>
          </a:p>
          <a:p>
            <a:pPr algn="ctr">
              <a:buNone/>
            </a:pPr>
            <a:r>
              <a:rPr lang="en-US" sz="1400" b="1" dirty="0">
                <a:solidFill>
                  <a:srgbClr val="FFFFFF"/>
                </a:solidFill>
                <a:latin typeface="Calibri"/>
              </a:rPr>
              <a:t>LAYER</a:t>
            </a:r>
          </a:p>
        </p:txBody>
      </p:sp>
      <p:sp>
        <p:nvSpPr>
          <p:cNvPr id="41" name="Orch1"/>
          <p:cNvSpPr/>
          <p:nvPr/>
        </p:nvSpPr>
        <p:spPr>
          <a:xfrm>
            <a:off x="2032000" y="5181600"/>
            <a:ext cx="2133600" cy="1270000"/>
          </a:xfrm>
          <a:prstGeom prst="roundRect">
            <a:avLst>
              <a:gd name="adj" fmla="val 5000"/>
            </a:avLst>
          </a:prstGeom>
          <a:solidFill>
            <a:srgbClr val="0D1B3E"/>
          </a:solidFill>
          <a:ln w="12700">
            <a:solidFill>
              <a:srgbClr val="FF6B35"/>
            </a:solidFill>
          </a:ln>
        </p:spPr>
        <p:txBody>
          <a:bodyPr wrap="square" lIns="72000" rIns="72000" rtlCol="0" anchor="ctr"/>
          <a:lstStyle/>
          <a:p>
            <a:pPr algn="ctr">
              <a:buNone/>
            </a:pPr>
            <a:r>
              <a:rPr lang="en-US" sz="1600" b="1" dirty="0">
                <a:solidFill>
                  <a:srgbClr val="FFFFFF"/>
                </a:solidFill>
                <a:latin typeface="Calibri"/>
              </a:rPr>
              <a:t>LangFlow Visual Builder</a:t>
            </a:r>
          </a:p>
        </p:txBody>
      </p:sp>
      <p:sp>
        <p:nvSpPr>
          <p:cNvPr id="42" name="ArrowOrch"/>
          <p:cNvSpPr/>
          <p:nvPr/>
        </p:nvSpPr>
        <p:spPr>
          <a:xfrm>
            <a:off x="4267200" y="5715000"/>
            <a:ext cx="254000" cy="203200"/>
          </a:xfrm>
          <a:prstGeom prst="rightArrow">
            <a:avLst/>
          </a:prstGeom>
          <a:solidFill>
            <a:srgbClr val="FF6B35"/>
          </a:solidFill>
          <a:ln>
            <a:noFill/>
          </a:ln>
        </p:spPr>
        <p:txBody>
          <a:bodyPr/>
          <a:lstStyle/>
          <a:p>
            <a:endParaRPr lang="en-US"/>
          </a:p>
        </p:txBody>
      </p:sp>
      <p:sp>
        <p:nvSpPr>
          <p:cNvPr id="43" name="Orch2"/>
          <p:cNvSpPr/>
          <p:nvPr/>
        </p:nvSpPr>
        <p:spPr>
          <a:xfrm>
            <a:off x="4622800" y="5181600"/>
            <a:ext cx="1879600" cy="1270000"/>
          </a:xfrm>
          <a:prstGeom prst="roundRect">
            <a:avLst>
              <a:gd name="adj" fmla="val 5000"/>
            </a:avLst>
          </a:prstGeom>
          <a:solidFill>
            <a:srgbClr val="0D1B3E"/>
          </a:solidFill>
          <a:ln w="12700">
            <a:solidFill>
              <a:srgbClr val="FF6B35"/>
            </a:solidFill>
          </a:ln>
        </p:spPr>
        <p:txBody>
          <a:bodyPr wrap="square" lIns="72000" rIns="72000" rtlCol="0" anchor="ctr"/>
          <a:lstStyle/>
          <a:p>
            <a:pPr algn="ctr">
              <a:buNone/>
            </a:pPr>
            <a:r>
              <a:rPr lang="en-US" sz="1600" b="1" dirty="0">
                <a:solidFill>
                  <a:srgbClr val="FFFFFF"/>
                </a:solidFill>
                <a:latin typeface="Calibri"/>
              </a:rPr>
              <a:t>Smart Router</a:t>
            </a:r>
          </a:p>
        </p:txBody>
      </p:sp>
      <p:sp>
        <p:nvSpPr>
          <p:cNvPr id="44" name="ArrowOrch2"/>
          <p:cNvSpPr/>
          <p:nvPr/>
        </p:nvSpPr>
        <p:spPr>
          <a:xfrm>
            <a:off x="6604000" y="5715000"/>
            <a:ext cx="254000" cy="203200"/>
          </a:xfrm>
          <a:prstGeom prst="rightArrow">
            <a:avLst/>
          </a:prstGeom>
          <a:solidFill>
            <a:srgbClr val="FF6B35"/>
          </a:solidFill>
          <a:ln>
            <a:noFill/>
          </a:ln>
        </p:spPr>
        <p:txBody>
          <a:bodyPr/>
          <a:lstStyle/>
          <a:p>
            <a:endParaRPr lang="en-US"/>
          </a:p>
        </p:txBody>
      </p:sp>
      <p:sp>
        <p:nvSpPr>
          <p:cNvPr id="45" name="Orch3"/>
          <p:cNvSpPr/>
          <p:nvPr/>
        </p:nvSpPr>
        <p:spPr>
          <a:xfrm>
            <a:off x="6959600" y="5181600"/>
            <a:ext cx="1727200" cy="1270000"/>
          </a:xfrm>
          <a:prstGeom prst="roundRect">
            <a:avLst>
              <a:gd name="adj" fmla="val 5000"/>
            </a:avLst>
          </a:prstGeom>
          <a:solidFill>
            <a:srgbClr val="0D1B3E"/>
          </a:solidFill>
          <a:ln w="12700">
            <a:solidFill>
              <a:srgbClr val="FF6B35"/>
            </a:solidFill>
          </a:ln>
        </p:spPr>
        <p:txBody>
          <a:bodyPr wrap="square" lIns="72000" rIns="72000" rtlCol="0" anchor="ctr"/>
          <a:lstStyle/>
          <a:p>
            <a:pPr algn="ctr">
              <a:buNone/>
            </a:pPr>
            <a:r>
              <a:rPr lang="en-US" sz="1600" b="1" dirty="0">
                <a:solidFill>
                  <a:srgbClr val="FFFFFF"/>
                </a:solidFill>
                <a:latin typeface="Calibri"/>
              </a:rPr>
              <a:t>Agent Coordination</a:t>
            </a:r>
          </a:p>
        </p:txBody>
      </p:sp>
    </p:spTree>
    <p:extLst>
      <p:ext uri="{BB962C8B-B14F-4D97-AF65-F5344CB8AC3E}">
        <p14:creationId xmlns:p14="http://schemas.microsoft.com/office/powerpoint/2010/main" val="3642473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VIDEO DEMO PLACEHOLDER</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Building an Agentic RAG POC</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20" name="LiveDemo"/>
          <p:cNvSpPr txBox="1"/>
          <p:nvPr/>
        </p:nvSpPr>
        <p:spPr>
          <a:xfrm>
            <a:off x="1270000" y="1270000"/>
            <a:ext cx="6604000" cy="609600"/>
          </a:xfrm>
          <a:prstGeom prst="rect">
            <a:avLst/>
          </a:prstGeom>
          <a:noFill/>
        </p:spPr>
        <p:txBody>
          <a:bodyPr wrap="square" rtlCol="0" anchor="ctr"/>
          <a:lstStyle/>
          <a:p>
            <a:pPr algn="ctr">
              <a:buNone/>
            </a:pPr>
            <a:r>
              <a:rPr lang="en-US" sz="3200" b="1" dirty="0">
                <a:solidFill>
                  <a:srgbClr val="FFFFFF"/>
                </a:solidFill>
                <a:latin typeface="Calibri"/>
              </a:rPr>
              <a:t>Live Demonstration</a:t>
            </a:r>
          </a:p>
        </p:txBody>
      </p:sp>
      <p:sp>
        <p:nvSpPr>
          <p:cNvPr id="21" name="VideoBox"/>
          <p:cNvSpPr/>
          <p:nvPr/>
        </p:nvSpPr>
        <p:spPr>
          <a:xfrm>
            <a:off x="2032000" y="1981200"/>
            <a:ext cx="5080000" cy="1270000"/>
          </a:xfrm>
          <a:prstGeom prst="roundRect">
            <a:avLst>
              <a:gd name="adj" fmla="val 5000"/>
            </a:avLst>
          </a:prstGeom>
          <a:solidFill>
            <a:srgbClr val="0D1B3E"/>
          </a:solidFill>
          <a:ln w="25400">
            <a:solidFill>
              <a:srgbClr val="02C39A"/>
            </a:solidFill>
          </a:ln>
        </p:spPr>
        <p:txBody>
          <a:bodyPr wrap="square" rtlCol="0" anchor="ctr"/>
          <a:lstStyle/>
          <a:p>
            <a:pPr algn="ctr">
              <a:buNone/>
            </a:pPr>
            <a:r>
              <a:rPr lang="en-US" sz="3200" dirty="0">
                <a:solidFill>
                  <a:srgbClr val="02C39A"/>
                </a:solidFill>
                <a:latin typeface="Calibri"/>
              </a:rPr>
              <a:t>▶</a:t>
            </a:r>
          </a:p>
          <a:p>
            <a:pPr algn="ctr">
              <a:buNone/>
            </a:pPr>
            <a:r>
              <a:rPr lang="en-US" sz="1800" b="1" dirty="0">
                <a:solidFill>
                  <a:srgbClr val="CADCFC"/>
                </a:solidFill>
                <a:latin typeface="Calibri"/>
              </a:rPr>
              <a:t>5-Minute Video Demo</a:t>
            </a:r>
          </a:p>
        </p:txBody>
      </p:sp>
      <p:sp>
        <p:nvSpPr>
          <p:cNvPr id="30" name="QueriesHeader"/>
          <p:cNvSpPr txBox="1"/>
          <p:nvPr/>
        </p:nvSpPr>
        <p:spPr>
          <a:xfrm>
            <a:off x="457200" y="3479800"/>
            <a:ext cx="8229600" cy="355600"/>
          </a:xfrm>
          <a:prstGeom prst="rect">
            <a:avLst/>
          </a:prstGeom>
          <a:noFill/>
        </p:spPr>
        <p:txBody>
          <a:bodyPr wrap="square" rtlCol="0"/>
          <a:lstStyle/>
          <a:p>
            <a:pPr algn="ctr">
              <a:buNone/>
            </a:pPr>
            <a:r>
              <a:rPr lang="en-US" sz="1800" b="1" dirty="0">
                <a:solidFill>
                  <a:srgbClr val="FFFFFF"/>
                </a:solidFill>
                <a:latin typeface="Calibri"/>
              </a:rPr>
              <a:t>Demo Queries</a:t>
            </a:r>
          </a:p>
        </p:txBody>
      </p:sp>
      <p:sp>
        <p:nvSpPr>
          <p:cNvPr id="31" name="Q1"/>
          <p:cNvSpPr/>
          <p:nvPr/>
        </p:nvSpPr>
        <p:spPr>
          <a:xfrm>
            <a:off x="457200" y="39370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"What is CVE-2024-21413?"</a:t>
            </a:r>
          </a:p>
          <a:p>
            <a:pPr algn="l">
              <a:buNone/>
            </a:pPr>
            <a:r>
              <a:rPr lang="en-US" sz="1400" b="1" dirty="0">
                <a:solidFill>
                  <a:srgbClr val="02C39A"/>
                </a:solidFill>
                <a:latin typeface="Calibri"/>
              </a:rPr>
              <a:t>→ CVE Analysis</a:t>
            </a:r>
          </a:p>
        </p:txBody>
      </p:sp>
      <p:sp>
        <p:nvSpPr>
          <p:cNvPr id="32" name="Q2"/>
          <p:cNvSpPr/>
          <p:nvPr/>
        </p:nvSpPr>
        <p:spPr>
          <a:xfrm>
            <a:off x="4648200" y="39370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"Which systems run Outlook 2019?"</a:t>
            </a:r>
          </a:p>
          <a:p>
            <a:pPr algn="l">
              <a:buNone/>
            </a:pPr>
            <a:r>
              <a:rPr lang="en-US" sz="1400" b="1" dirty="0">
                <a:solidFill>
                  <a:srgbClr val="02C39A"/>
                </a:solidFill>
                <a:latin typeface="Calibri"/>
              </a:rPr>
              <a:t>→ Asset Inventory</a:t>
            </a:r>
          </a:p>
        </p:txBody>
      </p:sp>
      <p:sp>
        <p:nvSpPr>
          <p:cNvPr id="33" name="Q3"/>
          <p:cNvSpPr/>
          <p:nvPr/>
        </p:nvSpPr>
        <p:spPr>
          <a:xfrm>
            <a:off x="457200" y="47752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"Are we vulnerable to CVE-2024-21413?"</a:t>
            </a:r>
          </a:p>
          <a:p>
            <a:pPr algn="l">
              <a:buNone/>
            </a:pPr>
            <a:r>
              <a:rPr lang="en-US" sz="1400" b="1" dirty="0">
                <a:solidFill>
                  <a:srgbClr val="02C39A"/>
                </a:solidFill>
                <a:latin typeface="Calibri"/>
              </a:rPr>
              <a:t>→ Asset Correlation</a:t>
            </a:r>
          </a:p>
        </p:txBody>
      </p:sp>
      <p:sp>
        <p:nvSpPr>
          <p:cNvPr id="34" name="Q4"/>
          <p:cNvSpPr/>
          <p:nvPr/>
        </p:nvSpPr>
        <p:spPr>
          <a:xfrm>
            <a:off x="4648200" y="47752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"Prioritize: CVE-2024-21413, CVE-2023-44487, CVE-2023-46604"</a:t>
            </a:r>
          </a:p>
          <a:p>
            <a:pPr algn="l">
              <a:buNone/>
            </a:pPr>
            <a:r>
              <a:rPr lang="en-US" sz="1400" b="1" dirty="0">
                <a:solidFill>
                  <a:srgbClr val="02C39A"/>
                </a:solidFill>
                <a:latin typeface="Calibri"/>
              </a:rPr>
              <a:t>→ Risk Prioritization</a:t>
            </a:r>
          </a:p>
        </p:txBody>
      </p:sp>
      <p:sp>
        <p:nvSpPr>
          <p:cNvPr id="2" name="Q2">
            <a:extLst>
              <a:ext uri="{FF2B5EF4-FFF2-40B4-BE49-F238E27FC236}">
                <a16:creationId xmlns:a16="http://schemas.microsoft.com/office/drawing/2014/main" id="{1B45FEAF-B15F-68C4-AC1B-7935894F83B9}"/>
              </a:ext>
            </a:extLst>
          </p:cNvPr>
          <p:cNvSpPr/>
          <p:nvPr/>
        </p:nvSpPr>
        <p:spPr>
          <a:xfrm>
            <a:off x="457200" y="56134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"What are our CRITICAL systems?"</a:t>
            </a:r>
          </a:p>
          <a:p>
            <a:pPr algn="l">
              <a:buNone/>
            </a:pPr>
            <a:r>
              <a:rPr lang="en-US" sz="1400" b="1" dirty="0">
                <a:solidFill>
                  <a:srgbClr val="02C39A"/>
                </a:solidFill>
                <a:latin typeface="Calibri"/>
              </a:rPr>
              <a:t>→ Asset Inventory</a:t>
            </a:r>
          </a:p>
        </p:txBody>
      </p:sp>
      <p:sp>
        <p:nvSpPr>
          <p:cNvPr id="3" name="Q1">
            <a:extLst>
              <a:ext uri="{FF2B5EF4-FFF2-40B4-BE49-F238E27FC236}">
                <a16:creationId xmlns:a16="http://schemas.microsoft.com/office/drawing/2014/main" id="{6A02A122-A111-E5A5-93BA-509CB8E65EEB}"/>
              </a:ext>
            </a:extLst>
          </p:cNvPr>
          <p:cNvSpPr/>
          <p:nvPr/>
        </p:nvSpPr>
        <p:spPr>
          <a:xfrm>
            <a:off x="4648200" y="5613400"/>
            <a:ext cx="4038600" cy="685800"/>
          </a:xfrm>
          <a:prstGeom prst="roundRect">
            <a:avLst>
              <a:gd name="adj" fmla="val 8000"/>
            </a:avLst>
          </a:prstGeom>
          <a:solidFill>
            <a:srgbClr val="0D1B3E"/>
          </a:solidFill>
          <a:ln>
            <a:noFill/>
          </a:ln>
        </p:spPr>
        <p:txBody>
          <a:bodyPr wrap="square" lIns="108000" rIns="72000" rtlCol="0" anchor="ctr"/>
          <a:lstStyle/>
          <a:p>
            <a:pPr algn="l">
              <a:buNone/>
            </a:pPr>
            <a:r>
              <a:rPr lang="en-US" sz="1400" dirty="0">
                <a:solidFill>
                  <a:srgbClr val="CADCFC"/>
                </a:solidFill>
                <a:latin typeface="Calibri"/>
              </a:rPr>
              <a:t>"What are the major CVEs affecting the Finance systems?"</a:t>
            </a:r>
          </a:p>
          <a:p>
            <a:pPr algn="l">
              <a:buNone/>
            </a:pPr>
            <a:r>
              <a:rPr lang="en-US" sz="1400" b="1" dirty="0">
                <a:solidFill>
                  <a:srgbClr val="02C39A"/>
                </a:solidFill>
                <a:latin typeface="Calibri"/>
              </a:rPr>
              <a:t>→ Vulnerability Analysis</a:t>
            </a:r>
          </a:p>
        </p:txBody>
      </p:sp>
    </p:spTree>
    <p:extLst>
      <p:ext uri="{BB962C8B-B14F-4D97-AF65-F5344CB8AC3E}">
        <p14:creationId xmlns:p14="http://schemas.microsoft.com/office/powerpoint/2010/main" val="2060474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KEY TECHNICAL DECISIONS</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Building an Agentic RAG POC</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50" name="Card50"/>
          <p:cNvSpPr/>
          <p:nvPr/>
        </p:nvSpPr>
        <p:spPr>
          <a:xfrm>
            <a:off x="457200" y="1219200"/>
            <a:ext cx="2667000" cy="5207000"/>
          </a:xfrm>
          <a:prstGeom prst="roundRect">
            <a:avLst>
              <a:gd name="adj" fmla="val 3000"/>
            </a:avLst>
          </a:prstGeom>
          <a:solidFill>
            <a:srgbClr val="0D1B3E"/>
          </a:solidFill>
          <a:ln w="12700">
            <a:solidFill>
              <a:srgbClr val="02C39A"/>
            </a:solidFill>
          </a:ln>
        </p:spPr>
        <p:txBody>
          <a:bodyPr/>
          <a:lstStyle/>
          <a:p>
            <a:endParaRPr lang="en-US"/>
          </a:p>
        </p:txBody>
      </p:sp>
      <p:sp>
        <p:nvSpPr>
          <p:cNvPr id="51" name="Num50"/>
          <p:cNvSpPr/>
          <p:nvPr/>
        </p:nvSpPr>
        <p:spPr>
          <a:xfrm>
            <a:off x="1498600" y="1371600"/>
            <a:ext cx="584200" cy="584200"/>
          </a:xfrm>
          <a:prstGeom prst="ellipse">
            <a:avLst/>
          </a:prstGeom>
          <a:solidFill>
            <a:srgbClr val="02C39A"/>
          </a:solidFill>
          <a:ln>
            <a:noFill/>
          </a:ln>
        </p:spPr>
        <p:txBody>
          <a:bodyPr wrap="none" lIns="0" tIns="0" rIns="0" bIns="0" rtlCol="0" anchor="ctr"/>
          <a:lstStyle/>
          <a:p>
            <a:pPr algn="ctr">
              <a:buNone/>
            </a:pPr>
            <a:r>
              <a:rPr lang="en-US" sz="2000" b="1" dirty="0">
                <a:solidFill>
                  <a:srgbClr val="FFFFFF"/>
                </a:solidFill>
                <a:latin typeface="Calibri"/>
              </a:rPr>
              <a:t>1</a:t>
            </a:r>
          </a:p>
        </p:txBody>
      </p:sp>
      <p:sp>
        <p:nvSpPr>
          <p:cNvPr id="52" name="DTitle50"/>
          <p:cNvSpPr txBox="1"/>
          <p:nvPr/>
        </p:nvSpPr>
        <p:spPr>
          <a:xfrm>
            <a:off x="635000" y="2108200"/>
            <a:ext cx="2311400" cy="558800"/>
          </a:xfrm>
          <a:prstGeom prst="rect">
            <a:avLst/>
          </a:prstGeom>
          <a:noFill/>
        </p:spPr>
        <p:txBody>
          <a:bodyPr wrap="square" rtlCol="0" anchor="t"/>
          <a:lstStyle/>
          <a:p>
            <a:pPr algn="ctr">
              <a:buNone/>
            </a:pPr>
            <a:r>
              <a:rPr lang="en-US" sz="1600" b="1" dirty="0">
                <a:solidFill>
                  <a:srgbClr val="FFFFFF"/>
                </a:solidFill>
                <a:latin typeface="Calibri"/>
              </a:rPr>
              <a:t>Text Files vs Nested JSON</a:t>
            </a:r>
          </a:p>
        </p:txBody>
      </p:sp>
      <p:sp>
        <p:nvSpPr>
          <p:cNvPr id="53" name="Rat50"/>
          <p:cNvSpPr txBox="1"/>
          <p:nvPr/>
        </p:nvSpPr>
        <p:spPr>
          <a:xfrm>
            <a:off x="635000" y="2819400"/>
            <a:ext cx="2311400" cy="1524000"/>
          </a:xfrm>
          <a:prstGeom prst="rect">
            <a:avLst/>
          </a:prstGeom>
          <a:noFill/>
        </p:spPr>
        <p:txBody>
          <a:bodyPr wrap="square" rtlCol="0" anchor="t"/>
          <a:lstStyle/>
          <a:p>
            <a:pPr algn="l">
              <a:buNone/>
            </a:pPr>
            <a:r>
              <a:rPr lang="en-US" sz="1400" b="1" dirty="0">
                <a:solidFill>
                  <a:srgbClr val="02C39A"/>
                </a:solidFill>
                <a:latin typeface="Calibri"/>
              </a:rPr>
              <a:t>Rationale</a:t>
            </a:r>
          </a:p>
          <a:p>
            <a:pPr algn="l">
              <a:buNone/>
            </a:pPr>
            <a:r>
              <a:rPr lang="en-US" sz="1400" dirty="0">
                <a:solidFill>
                  <a:srgbClr val="CADCFC"/>
                </a:solidFill>
                <a:latin typeface="Calibri"/>
              </a:rPr>
              <a:t>Flattened text documents for asset inventory instead of complex JSON schema</a:t>
            </a:r>
          </a:p>
        </p:txBody>
      </p:sp>
      <p:sp>
        <p:nvSpPr>
          <p:cNvPr id="54" name="Imp50"/>
          <p:cNvSpPr txBox="1"/>
          <p:nvPr/>
        </p:nvSpPr>
        <p:spPr>
          <a:xfrm>
            <a:off x="635000" y="4572000"/>
            <a:ext cx="2311400" cy="1524000"/>
          </a:xfrm>
          <a:prstGeom prst="rect">
            <a:avLst/>
          </a:prstGeom>
          <a:noFill/>
        </p:spPr>
        <p:txBody>
          <a:bodyPr wrap="square" rtlCol="0" anchor="t"/>
          <a:lstStyle/>
          <a:p>
            <a:pPr algn="l">
              <a:buNone/>
            </a:pPr>
            <a:r>
              <a:rPr lang="en-US" sz="1400" b="1" dirty="0">
                <a:solidFill>
                  <a:srgbClr val="02C39A"/>
                </a:solidFill>
                <a:latin typeface="Calibri"/>
              </a:rPr>
              <a:t>Impact</a:t>
            </a:r>
          </a:p>
          <a:p>
            <a:pPr algn="l">
              <a:buNone/>
            </a:pPr>
            <a:r>
              <a:rPr lang="en-US" sz="1400" dirty="0">
                <a:solidFill>
                  <a:srgbClr val="FFFFFF"/>
                </a:solidFill>
                <a:latin typeface="Calibri"/>
              </a:rPr>
              <a:t>100% elimination of parsing errors, better semantic search</a:t>
            </a:r>
          </a:p>
        </p:txBody>
      </p:sp>
      <p:sp>
        <p:nvSpPr>
          <p:cNvPr id="60" name="Card60"/>
          <p:cNvSpPr/>
          <p:nvPr/>
        </p:nvSpPr>
        <p:spPr>
          <a:xfrm>
            <a:off x="3238500" y="1219200"/>
            <a:ext cx="2667000" cy="5207000"/>
          </a:xfrm>
          <a:prstGeom prst="roundRect">
            <a:avLst>
              <a:gd name="adj" fmla="val 3000"/>
            </a:avLst>
          </a:prstGeom>
          <a:solidFill>
            <a:srgbClr val="0D1B3E"/>
          </a:solidFill>
          <a:ln w="12700">
            <a:solidFill>
              <a:srgbClr val="3A86FF"/>
            </a:solidFill>
          </a:ln>
        </p:spPr>
        <p:txBody>
          <a:bodyPr/>
          <a:lstStyle/>
          <a:p>
            <a:endParaRPr lang="en-US"/>
          </a:p>
        </p:txBody>
      </p:sp>
      <p:sp>
        <p:nvSpPr>
          <p:cNvPr id="61" name="Num60"/>
          <p:cNvSpPr/>
          <p:nvPr/>
        </p:nvSpPr>
        <p:spPr>
          <a:xfrm>
            <a:off x="4279900" y="1371600"/>
            <a:ext cx="584200" cy="584200"/>
          </a:xfrm>
          <a:prstGeom prst="ellipse">
            <a:avLst/>
          </a:prstGeom>
          <a:solidFill>
            <a:srgbClr val="3A86FF"/>
          </a:solidFill>
          <a:ln>
            <a:noFill/>
          </a:ln>
        </p:spPr>
        <p:txBody>
          <a:bodyPr wrap="none" lIns="0" tIns="0" rIns="0" bIns="0" rtlCol="0" anchor="ctr"/>
          <a:lstStyle/>
          <a:p>
            <a:pPr algn="ctr">
              <a:buNone/>
            </a:pPr>
            <a:r>
              <a:rPr lang="en-US" sz="2000" b="1" dirty="0">
                <a:solidFill>
                  <a:srgbClr val="FFFFFF"/>
                </a:solidFill>
                <a:latin typeface="Calibri"/>
              </a:rPr>
              <a:t>2</a:t>
            </a:r>
          </a:p>
        </p:txBody>
      </p:sp>
      <p:sp>
        <p:nvSpPr>
          <p:cNvPr id="62" name="DTitle60"/>
          <p:cNvSpPr txBox="1"/>
          <p:nvPr/>
        </p:nvSpPr>
        <p:spPr>
          <a:xfrm>
            <a:off x="3416300" y="2108200"/>
            <a:ext cx="2311400" cy="558800"/>
          </a:xfrm>
          <a:prstGeom prst="rect">
            <a:avLst/>
          </a:prstGeom>
          <a:noFill/>
        </p:spPr>
        <p:txBody>
          <a:bodyPr wrap="square" rtlCol="0" anchor="t"/>
          <a:lstStyle/>
          <a:p>
            <a:pPr algn="ctr">
              <a:buNone/>
            </a:pPr>
            <a:r>
              <a:rPr lang="en-US" sz="1600" b="1" dirty="0">
                <a:solidFill>
                  <a:srgbClr val="FFFFFF"/>
                </a:solidFill>
                <a:latin typeface="Calibri"/>
              </a:rPr>
              <a:t>Multi-Agent vs Single Agent</a:t>
            </a:r>
          </a:p>
        </p:txBody>
      </p:sp>
      <p:sp>
        <p:nvSpPr>
          <p:cNvPr id="63" name="Rat60"/>
          <p:cNvSpPr txBox="1"/>
          <p:nvPr/>
        </p:nvSpPr>
        <p:spPr>
          <a:xfrm>
            <a:off x="3416300" y="2819400"/>
            <a:ext cx="2311400" cy="1524000"/>
          </a:xfrm>
          <a:prstGeom prst="rect">
            <a:avLst/>
          </a:prstGeom>
          <a:noFill/>
        </p:spPr>
        <p:txBody>
          <a:bodyPr wrap="square" rtlCol="0" anchor="t"/>
          <a:lstStyle/>
          <a:p>
            <a:pPr algn="l">
              <a:buNone/>
            </a:pPr>
            <a:r>
              <a:rPr lang="en-US" sz="1400" b="1" dirty="0">
                <a:solidFill>
                  <a:srgbClr val="3A86FF"/>
                </a:solidFill>
                <a:latin typeface="Calibri"/>
              </a:rPr>
              <a:t>Rationale</a:t>
            </a:r>
          </a:p>
          <a:p>
            <a:pPr algn="l">
              <a:buNone/>
            </a:pPr>
            <a:r>
              <a:rPr lang="en-US" sz="1400" dirty="0">
                <a:solidFill>
                  <a:srgbClr val="CADCFC"/>
                </a:solidFill>
                <a:latin typeface="Calibri"/>
              </a:rPr>
              <a:t>Separate specialist agents (CVE, Asset, Risk) vs monolithic system</a:t>
            </a:r>
          </a:p>
        </p:txBody>
      </p:sp>
      <p:sp>
        <p:nvSpPr>
          <p:cNvPr id="64" name="Imp60"/>
          <p:cNvSpPr txBox="1"/>
          <p:nvPr/>
        </p:nvSpPr>
        <p:spPr>
          <a:xfrm>
            <a:off x="3416300" y="4572000"/>
            <a:ext cx="2311400" cy="1524000"/>
          </a:xfrm>
          <a:prstGeom prst="rect">
            <a:avLst/>
          </a:prstGeom>
          <a:noFill/>
        </p:spPr>
        <p:txBody>
          <a:bodyPr wrap="square" rtlCol="0" anchor="t"/>
          <a:lstStyle/>
          <a:p>
            <a:pPr algn="l">
              <a:buNone/>
            </a:pPr>
            <a:r>
              <a:rPr lang="en-US" sz="1400" b="1" dirty="0">
                <a:solidFill>
                  <a:srgbClr val="02C39A"/>
                </a:solidFill>
                <a:latin typeface="Calibri"/>
              </a:rPr>
              <a:t>Impact</a:t>
            </a:r>
          </a:p>
          <a:p>
            <a:pPr algn="l">
              <a:buNone/>
            </a:pPr>
            <a:r>
              <a:rPr lang="en-US" sz="1400" dirty="0">
                <a:solidFill>
                  <a:srgbClr val="FFFFFF"/>
                </a:solidFill>
                <a:latin typeface="Calibri"/>
              </a:rPr>
              <a:t>Better accuracy, easier testing, modular architecture</a:t>
            </a:r>
          </a:p>
        </p:txBody>
      </p:sp>
      <p:sp>
        <p:nvSpPr>
          <p:cNvPr id="70" name="Card70"/>
          <p:cNvSpPr/>
          <p:nvPr/>
        </p:nvSpPr>
        <p:spPr>
          <a:xfrm>
            <a:off x="6019800" y="1219200"/>
            <a:ext cx="2667000" cy="5207000"/>
          </a:xfrm>
          <a:prstGeom prst="roundRect">
            <a:avLst>
              <a:gd name="adj" fmla="val 3000"/>
            </a:avLst>
          </a:prstGeom>
          <a:solidFill>
            <a:srgbClr val="0D1B3E"/>
          </a:solidFill>
          <a:ln w="12700">
            <a:solidFill>
              <a:srgbClr val="FF6B35"/>
            </a:solidFill>
          </a:ln>
        </p:spPr>
        <p:txBody>
          <a:bodyPr/>
          <a:lstStyle/>
          <a:p>
            <a:endParaRPr lang="en-US"/>
          </a:p>
        </p:txBody>
      </p:sp>
      <p:sp>
        <p:nvSpPr>
          <p:cNvPr id="71" name="Num70"/>
          <p:cNvSpPr/>
          <p:nvPr/>
        </p:nvSpPr>
        <p:spPr>
          <a:xfrm>
            <a:off x="7061200" y="1371600"/>
            <a:ext cx="584200" cy="584200"/>
          </a:xfrm>
          <a:prstGeom prst="ellipse">
            <a:avLst/>
          </a:prstGeom>
          <a:solidFill>
            <a:srgbClr val="FF6B35"/>
          </a:solidFill>
          <a:ln>
            <a:noFill/>
          </a:ln>
        </p:spPr>
        <p:txBody>
          <a:bodyPr wrap="none" lIns="0" tIns="0" rIns="0" bIns="0" rtlCol="0" anchor="ctr"/>
          <a:lstStyle/>
          <a:p>
            <a:pPr algn="ctr">
              <a:buNone/>
            </a:pPr>
            <a:r>
              <a:rPr lang="en-US" sz="2000" b="1" dirty="0">
                <a:solidFill>
                  <a:srgbClr val="FFFFFF"/>
                </a:solidFill>
                <a:latin typeface="Calibri"/>
              </a:rPr>
              <a:t>3</a:t>
            </a:r>
          </a:p>
        </p:txBody>
      </p:sp>
      <p:sp>
        <p:nvSpPr>
          <p:cNvPr id="72" name="DTitle70"/>
          <p:cNvSpPr txBox="1"/>
          <p:nvPr/>
        </p:nvSpPr>
        <p:spPr>
          <a:xfrm>
            <a:off x="6197600" y="2108200"/>
            <a:ext cx="2311400" cy="558800"/>
          </a:xfrm>
          <a:prstGeom prst="rect">
            <a:avLst/>
          </a:prstGeom>
          <a:noFill/>
        </p:spPr>
        <p:txBody>
          <a:bodyPr wrap="square" rtlCol="0" anchor="t"/>
          <a:lstStyle/>
          <a:p>
            <a:pPr algn="ctr">
              <a:buNone/>
            </a:pPr>
            <a:r>
              <a:rPr lang="en-US" sz="1600" b="1" dirty="0">
                <a:solidFill>
                  <a:srgbClr val="FFFFFF"/>
                </a:solidFill>
                <a:latin typeface="Calibri"/>
              </a:rPr>
              <a:t>LangFlow vs Custom Code</a:t>
            </a:r>
          </a:p>
        </p:txBody>
      </p:sp>
      <p:sp>
        <p:nvSpPr>
          <p:cNvPr id="73" name="Rat70"/>
          <p:cNvSpPr txBox="1"/>
          <p:nvPr/>
        </p:nvSpPr>
        <p:spPr>
          <a:xfrm>
            <a:off x="6197600" y="2819400"/>
            <a:ext cx="2311400" cy="1524000"/>
          </a:xfrm>
          <a:prstGeom prst="rect">
            <a:avLst/>
          </a:prstGeom>
          <a:noFill/>
        </p:spPr>
        <p:txBody>
          <a:bodyPr wrap="square" rtlCol="0" anchor="t"/>
          <a:lstStyle/>
          <a:p>
            <a:pPr algn="l">
              <a:buNone/>
            </a:pPr>
            <a:r>
              <a:rPr lang="en-US" sz="1400" b="1" dirty="0">
                <a:solidFill>
                  <a:srgbClr val="FF6B35"/>
                </a:solidFill>
                <a:latin typeface="Calibri"/>
              </a:rPr>
              <a:t>Rationale</a:t>
            </a:r>
          </a:p>
          <a:p>
            <a:pPr algn="l">
              <a:buNone/>
            </a:pPr>
            <a:r>
              <a:rPr lang="en-US" sz="1400" dirty="0">
                <a:solidFill>
                  <a:srgbClr val="CADCFC"/>
                </a:solidFill>
                <a:latin typeface="Calibri"/>
              </a:rPr>
              <a:t>Visual builder for POC iteration speed</a:t>
            </a:r>
          </a:p>
        </p:txBody>
      </p:sp>
      <p:sp>
        <p:nvSpPr>
          <p:cNvPr id="74" name="Imp70"/>
          <p:cNvSpPr txBox="1"/>
          <p:nvPr/>
        </p:nvSpPr>
        <p:spPr>
          <a:xfrm>
            <a:off x="6197600" y="4572000"/>
            <a:ext cx="2311400" cy="1524000"/>
          </a:xfrm>
          <a:prstGeom prst="rect">
            <a:avLst/>
          </a:prstGeom>
          <a:noFill/>
        </p:spPr>
        <p:txBody>
          <a:bodyPr wrap="square" rtlCol="0" anchor="t"/>
          <a:lstStyle/>
          <a:p>
            <a:pPr algn="l">
              <a:buNone/>
            </a:pPr>
            <a:r>
              <a:rPr lang="en-US" sz="1400" b="1" dirty="0">
                <a:solidFill>
                  <a:srgbClr val="02C39A"/>
                </a:solidFill>
                <a:latin typeface="Calibri"/>
              </a:rPr>
              <a:t>Impact</a:t>
            </a:r>
          </a:p>
          <a:p>
            <a:pPr algn="l">
              <a:buNone/>
            </a:pPr>
            <a:r>
              <a:rPr lang="en-US" sz="1400" dirty="0">
                <a:solidFill>
                  <a:srgbClr val="FFFFFF"/>
                </a:solidFill>
                <a:latin typeface="Calibri"/>
              </a:rPr>
              <a:t>3x faster development, easier stakeholder demos</a:t>
            </a:r>
          </a:p>
        </p:txBody>
      </p:sp>
    </p:spTree>
    <p:extLst>
      <p:ext uri="{BB962C8B-B14F-4D97-AF65-F5344CB8AC3E}">
        <p14:creationId xmlns:p14="http://schemas.microsoft.com/office/powerpoint/2010/main" val="66004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CHALLENGES &amp; SOLUTIONS</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Challenges &amp; Pushback Reflection</a:t>
            </a:r>
          </a:p>
        </p:txBody>
      </p:sp>
      <p:sp>
        <p:nvSpPr>
          <p:cNvPr id="12" name="AccentLine"/>
          <p:cNvSpPr/>
          <p:nvPr/>
        </p:nvSpPr>
        <p:spPr>
          <a:xfrm>
            <a:off x="457200" y="1041400"/>
            <a:ext cx="8229600" cy="0"/>
          </a:xfrm>
          <a:prstGeom prst="line">
            <a:avLst/>
          </a:prstGeom>
          <a:ln w="12700">
            <a:solidFill>
              <a:srgbClr val="02C39A"/>
            </a:solidFill>
          </a:ln>
        </p:spPr>
        <p:txBody>
          <a:bodyPr/>
          <a:lstStyle/>
          <a:p>
            <a:endParaRPr lang="en-US"/>
          </a:p>
        </p:txBody>
      </p:sp>
      <p:sp>
        <p:nvSpPr>
          <p:cNvPr id="50" name="Card50"/>
          <p:cNvSpPr/>
          <p:nvPr/>
        </p:nvSpPr>
        <p:spPr>
          <a:xfrm>
            <a:off x="457200" y="1219200"/>
            <a:ext cx="2667000" cy="5207000"/>
          </a:xfrm>
          <a:prstGeom prst="roundRect">
            <a:avLst>
              <a:gd name="adj" fmla="val 3000"/>
            </a:avLst>
          </a:prstGeom>
          <a:solidFill>
            <a:srgbClr val="0D1B3E"/>
          </a:solidFill>
          <a:ln w="12700">
            <a:solidFill>
              <a:srgbClr val="FF6B35"/>
            </a:solidFill>
          </a:ln>
        </p:spPr>
        <p:txBody>
          <a:bodyPr/>
          <a:lstStyle/>
          <a:p>
            <a:endParaRPr lang="en-US"/>
          </a:p>
        </p:txBody>
      </p:sp>
      <p:sp>
        <p:nvSpPr>
          <p:cNvPr id="51" name="Badge50"/>
          <p:cNvSpPr/>
          <p:nvPr/>
        </p:nvSpPr>
        <p:spPr>
          <a:xfrm>
            <a:off x="1536700" y="1371600"/>
            <a:ext cx="508000" cy="508000"/>
          </a:xfrm>
          <a:prstGeom prst="triangle">
            <a:avLst/>
          </a:prstGeom>
          <a:solidFill>
            <a:srgbClr val="FF6B35"/>
          </a:solidFill>
          <a:ln>
            <a:noFill/>
          </a:ln>
        </p:spPr>
        <p:txBody>
          <a:bodyPr wrap="none" lIns="0" tIns="36000" rIns="0" bIns="0" rtlCol="0" anchor="ctr"/>
          <a:lstStyle/>
          <a:p>
            <a:pPr algn="ctr">
              <a:buNone/>
            </a:pPr>
            <a:r>
              <a:rPr lang="en-US" sz="1600" b="1" dirty="0">
                <a:solidFill>
                  <a:srgbClr val="FFFFFF"/>
                </a:solidFill>
                <a:latin typeface="Calibri"/>
              </a:rPr>
              <a:t>!</a:t>
            </a:r>
          </a:p>
        </p:txBody>
      </p:sp>
      <p:sp>
        <p:nvSpPr>
          <p:cNvPr id="52" name="CTitle50"/>
          <p:cNvSpPr txBox="1"/>
          <p:nvPr/>
        </p:nvSpPr>
        <p:spPr>
          <a:xfrm>
            <a:off x="635000" y="2032000"/>
            <a:ext cx="2311400" cy="635000"/>
          </a:xfrm>
          <a:prstGeom prst="rect">
            <a:avLst/>
          </a:prstGeom>
          <a:noFill/>
        </p:spPr>
        <p:txBody>
          <a:bodyPr wrap="square" rtlCol="0" anchor="t"/>
          <a:lstStyle/>
          <a:p>
            <a:pPr algn="ctr">
              <a:buNone/>
            </a:pPr>
            <a:r>
              <a:rPr lang="en-US" sz="1500" b="1" dirty="0">
                <a:solidFill>
                  <a:srgbClr val="FFFFFF"/>
                </a:solidFill>
                <a:latin typeface="Calibri"/>
              </a:rPr>
              <a:t>Nested Array Parsing in LangFlow</a:t>
            </a:r>
          </a:p>
        </p:txBody>
      </p:sp>
      <p:sp>
        <p:nvSpPr>
          <p:cNvPr id="53" name="Sol50"/>
          <p:cNvSpPr txBox="1"/>
          <p:nvPr/>
        </p:nvSpPr>
        <p:spPr>
          <a:xfrm>
            <a:off x="635000" y="2819400"/>
            <a:ext cx="2311400" cy="1397000"/>
          </a:xfrm>
          <a:prstGeom prst="rect">
            <a:avLst/>
          </a:prstGeom>
          <a:noFill/>
        </p:spPr>
        <p:txBody>
          <a:bodyPr wrap="square" rtlCol="0" anchor="t"/>
          <a:lstStyle/>
          <a:p>
            <a:pPr algn="l">
              <a:buNone/>
            </a:pPr>
            <a:r>
              <a:rPr lang="en-US" sz="1400" b="1" dirty="0">
                <a:solidFill>
                  <a:srgbClr val="02C39A"/>
                </a:solidFill>
                <a:latin typeface="Calibri"/>
              </a:rPr>
              <a:t>Solution</a:t>
            </a:r>
          </a:p>
          <a:p>
            <a:pPr algn="l">
              <a:buNone/>
            </a:pPr>
            <a:r>
              <a:rPr lang="en-US" sz="1400" dirty="0">
                <a:solidFill>
                  <a:srgbClr val="CADCFC"/>
                </a:solidFill>
                <a:latin typeface="Calibri"/>
              </a:rPr>
              <a:t>Converted asset JSON to text files before vectorization</a:t>
            </a:r>
          </a:p>
        </p:txBody>
      </p:sp>
      <p:sp>
        <p:nvSpPr>
          <p:cNvPr id="54" name="Learn50"/>
          <p:cNvSpPr txBox="1"/>
          <p:nvPr/>
        </p:nvSpPr>
        <p:spPr>
          <a:xfrm>
            <a:off x="635000" y="4445000"/>
            <a:ext cx="2311400" cy="1651000"/>
          </a:xfrm>
          <a:prstGeom prst="rect">
            <a:avLst/>
          </a:prstGeom>
          <a:noFill/>
        </p:spPr>
        <p:txBody>
          <a:bodyPr wrap="square" rtlCol="0" anchor="t"/>
          <a:lstStyle/>
          <a:p>
            <a:pPr algn="l">
              <a:buNone/>
            </a:pPr>
            <a:r>
              <a:rPr lang="en-US" sz="1400" b="1" dirty="0">
                <a:solidFill>
                  <a:srgbClr val="FF6B35"/>
                </a:solidFill>
                <a:latin typeface="Calibri"/>
              </a:rPr>
              <a:t>Learning</a:t>
            </a:r>
          </a:p>
          <a:p>
            <a:pPr algn="l">
              <a:buNone/>
            </a:pPr>
            <a:r>
              <a:rPr lang="en-US" sz="1400" dirty="0">
                <a:solidFill>
                  <a:srgbClr val="FFFFFF"/>
                </a:solidFill>
                <a:latin typeface="Calibri"/>
              </a:rPr>
              <a:t>Semantic search works better on natural language than structured data</a:t>
            </a:r>
          </a:p>
        </p:txBody>
      </p:sp>
      <p:sp>
        <p:nvSpPr>
          <p:cNvPr id="60" name="Card60"/>
          <p:cNvSpPr/>
          <p:nvPr/>
        </p:nvSpPr>
        <p:spPr>
          <a:xfrm>
            <a:off x="3238500" y="1219200"/>
            <a:ext cx="2667000" cy="5207000"/>
          </a:xfrm>
          <a:prstGeom prst="roundRect">
            <a:avLst>
              <a:gd name="adj" fmla="val 3000"/>
            </a:avLst>
          </a:prstGeom>
          <a:solidFill>
            <a:srgbClr val="0D1B3E"/>
          </a:solidFill>
          <a:ln w="12700">
            <a:solidFill>
              <a:srgbClr val="3A86FF"/>
            </a:solidFill>
          </a:ln>
        </p:spPr>
        <p:txBody>
          <a:bodyPr/>
          <a:lstStyle/>
          <a:p>
            <a:endParaRPr lang="en-US"/>
          </a:p>
        </p:txBody>
      </p:sp>
      <p:sp>
        <p:nvSpPr>
          <p:cNvPr id="61" name="Badge60"/>
          <p:cNvSpPr/>
          <p:nvPr/>
        </p:nvSpPr>
        <p:spPr>
          <a:xfrm>
            <a:off x="4318000" y="1371600"/>
            <a:ext cx="508000" cy="508000"/>
          </a:xfrm>
          <a:prstGeom prst="triangle">
            <a:avLst/>
          </a:prstGeom>
          <a:solidFill>
            <a:srgbClr val="3A86FF"/>
          </a:solidFill>
          <a:ln>
            <a:noFill/>
          </a:ln>
        </p:spPr>
        <p:txBody>
          <a:bodyPr wrap="none" lIns="0" tIns="36000" rIns="0" bIns="0" rtlCol="0" anchor="ctr"/>
          <a:lstStyle/>
          <a:p>
            <a:pPr algn="ctr">
              <a:buNone/>
            </a:pPr>
            <a:r>
              <a:rPr lang="en-US" sz="1600" b="1" dirty="0">
                <a:solidFill>
                  <a:srgbClr val="FFFFFF"/>
                </a:solidFill>
                <a:latin typeface="Calibri"/>
              </a:rPr>
              <a:t>!</a:t>
            </a:r>
          </a:p>
        </p:txBody>
      </p:sp>
      <p:sp>
        <p:nvSpPr>
          <p:cNvPr id="62" name="CTitle60"/>
          <p:cNvSpPr txBox="1"/>
          <p:nvPr/>
        </p:nvSpPr>
        <p:spPr>
          <a:xfrm>
            <a:off x="3416300" y="2032000"/>
            <a:ext cx="2311400" cy="635000"/>
          </a:xfrm>
          <a:prstGeom prst="rect">
            <a:avLst/>
          </a:prstGeom>
          <a:noFill/>
        </p:spPr>
        <p:txBody>
          <a:bodyPr wrap="square" rtlCol="0" anchor="t"/>
          <a:lstStyle/>
          <a:p>
            <a:pPr algn="ctr">
              <a:buNone/>
            </a:pPr>
            <a:r>
              <a:rPr lang="en-US" sz="1500" b="1" dirty="0">
                <a:solidFill>
                  <a:srgbClr val="FFFFFF"/>
                </a:solidFill>
                <a:latin typeface="Calibri"/>
              </a:rPr>
              <a:t>Version-Specific Query Accuracy</a:t>
            </a:r>
          </a:p>
        </p:txBody>
      </p:sp>
      <p:sp>
        <p:nvSpPr>
          <p:cNvPr id="63" name="Sol60"/>
          <p:cNvSpPr txBox="1"/>
          <p:nvPr/>
        </p:nvSpPr>
        <p:spPr>
          <a:xfrm>
            <a:off x="3416300" y="2819400"/>
            <a:ext cx="2311400" cy="1397000"/>
          </a:xfrm>
          <a:prstGeom prst="rect">
            <a:avLst/>
          </a:prstGeom>
          <a:noFill/>
        </p:spPr>
        <p:txBody>
          <a:bodyPr wrap="square" rtlCol="0" anchor="t"/>
          <a:lstStyle/>
          <a:p>
            <a:pPr algn="l">
              <a:buNone/>
            </a:pPr>
            <a:r>
              <a:rPr lang="en-US" sz="1400" b="1" dirty="0">
                <a:solidFill>
                  <a:srgbClr val="02C39A"/>
                </a:solidFill>
                <a:latin typeface="Calibri"/>
              </a:rPr>
              <a:t>Solution</a:t>
            </a:r>
          </a:p>
          <a:p>
            <a:pPr algn="l">
              <a:buNone/>
            </a:pPr>
            <a:r>
              <a:rPr lang="en-US" sz="1400" dirty="0">
                <a:solidFill>
                  <a:srgbClr val="CADCFC"/>
                </a:solidFill>
                <a:latin typeface="Calibri"/>
              </a:rPr>
              <a:t>Enhanced text format with explicit version strings and agent filtering logic</a:t>
            </a:r>
          </a:p>
        </p:txBody>
      </p:sp>
      <p:sp>
        <p:nvSpPr>
          <p:cNvPr id="64" name="Learn60"/>
          <p:cNvSpPr txBox="1"/>
          <p:nvPr/>
        </p:nvSpPr>
        <p:spPr>
          <a:xfrm>
            <a:off x="3416300" y="4445000"/>
            <a:ext cx="2311400" cy="1651000"/>
          </a:xfrm>
          <a:prstGeom prst="rect">
            <a:avLst/>
          </a:prstGeom>
          <a:noFill/>
        </p:spPr>
        <p:txBody>
          <a:bodyPr wrap="square" rtlCol="0" anchor="t"/>
          <a:lstStyle/>
          <a:p>
            <a:pPr algn="l">
              <a:buNone/>
            </a:pPr>
            <a:r>
              <a:rPr lang="en-US" sz="1400" b="1" dirty="0">
                <a:solidFill>
                  <a:srgbClr val="3A86FF"/>
                </a:solidFill>
                <a:latin typeface="Calibri"/>
              </a:rPr>
              <a:t>Learning</a:t>
            </a:r>
          </a:p>
          <a:p>
            <a:pPr algn="l">
              <a:buNone/>
            </a:pPr>
            <a:r>
              <a:rPr lang="en-US" sz="1400" dirty="0">
                <a:solidFill>
                  <a:srgbClr val="FFFFFF"/>
                </a:solidFill>
                <a:latin typeface="Calibri"/>
              </a:rPr>
              <a:t>LLMs need explicit version numbers in retrievable text</a:t>
            </a:r>
          </a:p>
        </p:txBody>
      </p:sp>
      <p:sp>
        <p:nvSpPr>
          <p:cNvPr id="70" name="Card70"/>
          <p:cNvSpPr/>
          <p:nvPr/>
        </p:nvSpPr>
        <p:spPr>
          <a:xfrm>
            <a:off x="6019800" y="1219200"/>
            <a:ext cx="2667000" cy="5207000"/>
          </a:xfrm>
          <a:prstGeom prst="roundRect">
            <a:avLst>
              <a:gd name="adj" fmla="val 3000"/>
            </a:avLst>
          </a:prstGeom>
          <a:solidFill>
            <a:srgbClr val="0D1B3E"/>
          </a:solidFill>
          <a:ln w="12700">
            <a:solidFill>
              <a:srgbClr val="E63946"/>
            </a:solidFill>
          </a:ln>
        </p:spPr>
        <p:txBody>
          <a:bodyPr/>
          <a:lstStyle/>
          <a:p>
            <a:endParaRPr lang="en-US"/>
          </a:p>
        </p:txBody>
      </p:sp>
      <p:sp>
        <p:nvSpPr>
          <p:cNvPr id="71" name="Badge70"/>
          <p:cNvSpPr/>
          <p:nvPr/>
        </p:nvSpPr>
        <p:spPr>
          <a:xfrm>
            <a:off x="7099300" y="1371600"/>
            <a:ext cx="508000" cy="508000"/>
          </a:xfrm>
          <a:prstGeom prst="triangle">
            <a:avLst/>
          </a:prstGeom>
          <a:solidFill>
            <a:srgbClr val="E63946"/>
          </a:solidFill>
          <a:ln>
            <a:noFill/>
          </a:ln>
        </p:spPr>
        <p:txBody>
          <a:bodyPr wrap="none" lIns="0" tIns="36000" rIns="0" bIns="0" rtlCol="0" anchor="ctr"/>
          <a:lstStyle/>
          <a:p>
            <a:pPr algn="ctr">
              <a:buNone/>
            </a:pPr>
            <a:r>
              <a:rPr lang="en-US" sz="1600" b="1" dirty="0">
                <a:solidFill>
                  <a:srgbClr val="FFFFFF"/>
                </a:solidFill>
                <a:latin typeface="Calibri"/>
              </a:rPr>
              <a:t>!</a:t>
            </a:r>
          </a:p>
        </p:txBody>
      </p:sp>
      <p:sp>
        <p:nvSpPr>
          <p:cNvPr id="72" name="CTitle70"/>
          <p:cNvSpPr txBox="1"/>
          <p:nvPr/>
        </p:nvSpPr>
        <p:spPr>
          <a:xfrm>
            <a:off x="6197600" y="2032000"/>
            <a:ext cx="2311400" cy="635000"/>
          </a:xfrm>
          <a:prstGeom prst="rect">
            <a:avLst/>
          </a:prstGeom>
          <a:noFill/>
        </p:spPr>
        <p:txBody>
          <a:bodyPr wrap="square" rtlCol="0" anchor="t"/>
          <a:lstStyle/>
          <a:p>
            <a:pPr algn="ctr">
              <a:buNone/>
            </a:pPr>
            <a:r>
              <a:rPr lang="en-US" sz="1500" b="1" dirty="0">
                <a:solidFill>
                  <a:srgbClr val="FFFFFF"/>
                </a:solidFill>
                <a:latin typeface="Calibri"/>
              </a:rPr>
              <a:t>Scope Validation Edge Cases</a:t>
            </a:r>
          </a:p>
        </p:txBody>
      </p:sp>
      <p:sp>
        <p:nvSpPr>
          <p:cNvPr id="73" name="Sol70"/>
          <p:cNvSpPr txBox="1"/>
          <p:nvPr/>
        </p:nvSpPr>
        <p:spPr>
          <a:xfrm>
            <a:off x="6197600" y="2819400"/>
            <a:ext cx="2311400" cy="1397000"/>
          </a:xfrm>
          <a:prstGeom prst="rect">
            <a:avLst/>
          </a:prstGeom>
          <a:noFill/>
        </p:spPr>
        <p:txBody>
          <a:bodyPr wrap="square" rtlCol="0" anchor="t"/>
          <a:lstStyle/>
          <a:p>
            <a:pPr algn="l">
              <a:buNone/>
            </a:pPr>
            <a:r>
              <a:rPr lang="en-US" sz="1400" b="1" dirty="0">
                <a:solidFill>
                  <a:srgbClr val="02C39A"/>
                </a:solidFill>
                <a:latin typeface="Calibri"/>
              </a:rPr>
              <a:t>Solution</a:t>
            </a:r>
          </a:p>
          <a:p>
            <a:pPr algn="l">
              <a:buNone/>
            </a:pPr>
            <a:r>
              <a:rPr lang="en-US" sz="1400" dirty="0">
                <a:solidFill>
                  <a:srgbClr val="CADCFC"/>
                </a:solidFill>
                <a:latin typeface="Calibri"/>
              </a:rPr>
              <a:t>Iterative prompt engineering with positive and negative examples</a:t>
            </a:r>
          </a:p>
        </p:txBody>
      </p:sp>
      <p:sp>
        <p:nvSpPr>
          <p:cNvPr id="74" name="Learn70"/>
          <p:cNvSpPr txBox="1"/>
          <p:nvPr/>
        </p:nvSpPr>
        <p:spPr>
          <a:xfrm>
            <a:off x="6197600" y="4445000"/>
            <a:ext cx="2311400" cy="1651000"/>
          </a:xfrm>
          <a:prstGeom prst="rect">
            <a:avLst/>
          </a:prstGeom>
          <a:noFill/>
        </p:spPr>
        <p:txBody>
          <a:bodyPr wrap="square" rtlCol="0" anchor="t"/>
          <a:lstStyle/>
          <a:p>
            <a:pPr algn="l">
              <a:buNone/>
            </a:pPr>
            <a:r>
              <a:rPr lang="en-US" sz="1400" b="1" dirty="0">
                <a:solidFill>
                  <a:srgbClr val="E63946"/>
                </a:solidFill>
                <a:latin typeface="Calibri"/>
              </a:rPr>
              <a:t>Learning</a:t>
            </a:r>
          </a:p>
          <a:p>
            <a:pPr algn="l">
              <a:buNone/>
            </a:pPr>
            <a:r>
              <a:rPr lang="en-US" sz="1400" dirty="0">
                <a:solidFill>
                  <a:srgbClr val="FFFFFF"/>
                </a:solidFill>
                <a:latin typeface="Calibri"/>
              </a:rPr>
              <a:t>RAI safeguards require comprehensive test coverage</a:t>
            </a:r>
          </a:p>
        </p:txBody>
      </p:sp>
    </p:spTree>
    <p:extLst>
      <p:ext uri="{BB962C8B-B14F-4D97-AF65-F5344CB8AC3E}">
        <p14:creationId xmlns:p14="http://schemas.microsoft.com/office/powerpoint/2010/main" val="1551281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itle"/>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BUSINESS CASE - ROI ANALYSIS</a:t>
            </a:r>
          </a:p>
        </p:txBody>
      </p:sp>
      <p:sp>
        <p:nvSpPr>
          <p:cNvPr id="11" name="SectionTag"/>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Production Readiness</a:t>
            </a:r>
          </a:p>
        </p:txBody>
      </p:sp>
      <p:sp>
        <p:nvSpPr>
          <p:cNvPr id="12" name="Line"/>
          <p:cNvSpPr/>
          <p:nvPr/>
        </p:nvSpPr>
        <p:spPr>
          <a:xfrm>
            <a:off x="457200" y="1041400"/>
            <a:ext cx="8229600" cy="0"/>
          </a:xfrm>
          <a:prstGeom prst="line">
            <a:avLst/>
          </a:prstGeom>
          <a:ln w="12700">
            <a:solidFill>
              <a:srgbClr val="02C39A"/>
            </a:solidFill>
          </a:ln>
        </p:spPr>
        <p:txBody>
          <a:bodyPr/>
          <a:lstStyle/>
          <a:p>
            <a:endParaRPr lang="en-US"/>
          </a:p>
        </p:txBody>
      </p:sp>
      <p:sp>
        <p:nvSpPr>
          <p:cNvPr id="20" name="ROIBanner"/>
          <p:cNvSpPr/>
          <p:nvPr/>
        </p:nvSpPr>
        <p:spPr>
          <a:xfrm>
            <a:off x="457200" y="1219200"/>
            <a:ext cx="8229600" cy="660400"/>
          </a:xfrm>
          <a:prstGeom prst="roundRect">
            <a:avLst>
              <a:gd name="adj" fmla="val 8000"/>
            </a:avLst>
          </a:prstGeom>
          <a:solidFill>
            <a:srgbClr val="02C39A"/>
          </a:solidFill>
          <a:ln>
            <a:noFill/>
          </a:ln>
        </p:spPr>
        <p:txBody>
          <a:bodyPr wrap="square" rtlCol="0" anchor="ctr"/>
          <a:lstStyle/>
          <a:p>
            <a:pPr algn="ctr">
              <a:buNone/>
            </a:pPr>
            <a:r>
              <a:rPr lang="en-US" sz="2200" b="1" dirty="0">
                <a:solidFill>
                  <a:srgbClr val="1E2761"/>
                </a:solidFill>
                <a:latin typeface="Calibri"/>
              </a:rPr>
              <a:t>214% ROI  |  $1.95M Annual Savings  |  8-Month Payback</a:t>
            </a:r>
          </a:p>
        </p:txBody>
      </p:sp>
      <p:sp>
        <p:nvSpPr>
          <p:cNvPr id="30" name="CostCard"/>
          <p:cNvSpPr/>
          <p:nvPr/>
        </p:nvSpPr>
        <p:spPr>
          <a:xfrm>
            <a:off x="457200" y="2032000"/>
            <a:ext cx="4038600" cy="3403600"/>
          </a:xfrm>
          <a:prstGeom prst="roundRect">
            <a:avLst>
              <a:gd name="adj" fmla="val 3000"/>
            </a:avLst>
          </a:prstGeom>
          <a:solidFill>
            <a:srgbClr val="0D1B3E"/>
          </a:solidFill>
          <a:ln>
            <a:noFill/>
          </a:ln>
        </p:spPr>
        <p:txBody>
          <a:bodyPr wrap="square" lIns="180000" tIns="108000" rIns="144000" bIns="72000" rtlCol="0" anchor="t"/>
          <a:lstStyle/>
          <a:p>
            <a:pPr algn="l">
              <a:buNone/>
            </a:pPr>
            <a:r>
              <a:rPr lang="en-US" sz="1800" b="1" dirty="0">
                <a:solidFill>
                  <a:srgbClr val="FF6B6B"/>
                </a:solidFill>
                <a:latin typeface="Calibri"/>
              </a:rPr>
              <a:t>Implementation Costs</a:t>
            </a:r>
          </a:p>
          <a:p>
            <a:pPr algn="l">
              <a:buNone/>
            </a:pPr>
            <a:r>
              <a:rPr lang="en-US" sz="1600" dirty="0">
                <a:solidFill>
                  <a:srgbClr val="CADCFC"/>
                </a:solidFill>
                <a:latin typeface="Calibri"/>
              </a:rPr>
              <a:t>Infrastructure</a:t>
            </a:r>
            <a:r>
              <a:rPr lang="en-US" sz="1600" b="1" dirty="0">
                <a:solidFill>
                  <a:srgbClr val="FFFFFF"/>
                </a:solidFill>
                <a:latin typeface="Calibri"/>
              </a:rPr>
              <a:t>		$120K</a:t>
            </a:r>
          </a:p>
          <a:p>
            <a:pPr algn="l">
              <a:buNone/>
            </a:pPr>
            <a:r>
              <a:rPr lang="en-US" sz="1600" dirty="0">
                <a:solidFill>
                  <a:srgbClr val="CADCFC"/>
                </a:solidFill>
                <a:latin typeface="Calibri"/>
              </a:rPr>
              <a:t>Development		</a:t>
            </a:r>
            <a:r>
              <a:rPr lang="en-US" sz="1600" b="1" dirty="0">
                <a:solidFill>
                  <a:srgbClr val="FFFFFF"/>
                </a:solidFill>
                <a:latin typeface="Calibri"/>
              </a:rPr>
              <a:t>$300K</a:t>
            </a:r>
          </a:p>
          <a:p>
            <a:pPr algn="l">
              <a:buNone/>
            </a:pPr>
            <a:r>
              <a:rPr lang="en-US" sz="1600" dirty="0">
                <a:solidFill>
                  <a:srgbClr val="CADCFC"/>
                </a:solidFill>
                <a:latin typeface="Calibri"/>
              </a:rPr>
              <a:t>Training</a:t>
            </a:r>
            <a:r>
              <a:rPr lang="en-US" sz="1600" b="1" dirty="0">
                <a:solidFill>
                  <a:srgbClr val="FFFFFF"/>
                </a:solidFill>
                <a:latin typeface="Calibri"/>
              </a:rPr>
              <a:t>			$50K</a:t>
            </a:r>
          </a:p>
          <a:p>
            <a:pPr algn="l">
              <a:buNone/>
            </a:pPr>
            <a:r>
              <a:rPr lang="en-US" sz="1600" dirty="0">
                <a:solidFill>
                  <a:srgbClr val="CADCFC"/>
                </a:solidFill>
                <a:latin typeface="Calibri"/>
              </a:rPr>
              <a:t>Maintenance</a:t>
            </a:r>
            <a:r>
              <a:rPr lang="en-US" sz="1600" b="1" dirty="0">
                <a:solidFill>
                  <a:srgbClr val="FFFFFF"/>
                </a:solidFill>
                <a:latin typeface="Calibri"/>
              </a:rPr>
              <a:t>		$150K/yr</a:t>
            </a:r>
          </a:p>
        </p:txBody>
      </p:sp>
      <p:sp>
        <p:nvSpPr>
          <p:cNvPr id="31" name="BenefitCard"/>
          <p:cNvSpPr/>
          <p:nvPr/>
        </p:nvSpPr>
        <p:spPr>
          <a:xfrm>
            <a:off x="4648200" y="2032000"/>
            <a:ext cx="4038600" cy="3403600"/>
          </a:xfrm>
          <a:prstGeom prst="roundRect">
            <a:avLst>
              <a:gd name="adj" fmla="val 3000"/>
            </a:avLst>
          </a:prstGeom>
          <a:solidFill>
            <a:srgbClr val="0D1B3E"/>
          </a:solidFill>
          <a:ln w="12700">
            <a:solidFill>
              <a:srgbClr val="02C39A"/>
            </a:solidFill>
          </a:ln>
        </p:spPr>
        <p:txBody>
          <a:bodyPr wrap="square" lIns="180000" tIns="108000" rIns="144000" bIns="72000" rtlCol="0" anchor="t"/>
          <a:lstStyle/>
          <a:p>
            <a:pPr algn="l">
              <a:buNone/>
            </a:pPr>
            <a:r>
              <a:rPr lang="en-US" sz="1800" b="1" dirty="0">
                <a:solidFill>
                  <a:srgbClr val="02C39A"/>
                </a:solidFill>
                <a:latin typeface="Calibri"/>
              </a:rPr>
              <a:t>Annual Benefits</a:t>
            </a:r>
          </a:p>
          <a:p>
            <a:pPr algn="l">
              <a:buNone/>
            </a:pPr>
            <a:r>
              <a:rPr lang="en-US" sz="1600" dirty="0">
                <a:solidFill>
                  <a:srgbClr val="CADCFC"/>
                </a:solidFill>
                <a:latin typeface="Calibri"/>
              </a:rPr>
              <a:t>Analyst time savings</a:t>
            </a:r>
            <a:r>
              <a:rPr lang="en-US" sz="1600" b="1" dirty="0">
                <a:solidFill>
                  <a:srgbClr val="FFFFFF"/>
                </a:solidFill>
                <a:latin typeface="Calibri"/>
              </a:rPr>
              <a:t>		$</a:t>
            </a:r>
            <a:r>
              <a:rPr lang="en-US" sz="1600" b="1" dirty="0">
                <a:solidFill>
                  <a:srgbClr val="FFFFFF"/>
                </a:solidFill>
                <a:highlight>
                  <a:srgbClr val="FFFF00"/>
                </a:highlight>
                <a:latin typeface="Calibri"/>
              </a:rPr>
              <a:t>1.95M</a:t>
            </a:r>
          </a:p>
          <a:p>
            <a:pPr algn="l">
              <a:buNone/>
            </a:pPr>
            <a:r>
              <a:rPr lang="en-US" sz="1600" dirty="0">
                <a:solidFill>
                  <a:srgbClr val="CADCFC"/>
                </a:solidFill>
                <a:latin typeface="Calibri"/>
              </a:rPr>
              <a:t>Breach cost reduction</a:t>
            </a:r>
            <a:r>
              <a:rPr lang="en-US" sz="1600" b="1" dirty="0">
                <a:solidFill>
                  <a:srgbClr val="FFFFFF"/>
                </a:solidFill>
                <a:latin typeface="Calibri"/>
              </a:rPr>
              <a:t>		$890K</a:t>
            </a:r>
          </a:p>
          <a:p>
            <a:pPr algn="l">
              <a:buNone/>
            </a:pPr>
            <a:r>
              <a:rPr lang="en-US" sz="1600" dirty="0">
                <a:solidFill>
                  <a:srgbClr val="CADCFC"/>
                </a:solidFill>
                <a:latin typeface="Calibri"/>
              </a:rPr>
              <a:t>Faster patch deploy</a:t>
            </a:r>
            <a:r>
              <a:rPr lang="en-US" sz="1600" b="1" dirty="0">
                <a:solidFill>
                  <a:srgbClr val="FFFFFF"/>
                </a:solidFill>
                <a:latin typeface="Calibri"/>
              </a:rPr>
              <a:t>		$450K</a:t>
            </a:r>
          </a:p>
          <a:p>
            <a:pPr algn="l">
              <a:buNone/>
            </a:pPr>
            <a:r>
              <a:rPr lang="en-US" sz="1600" dirty="0">
                <a:solidFill>
                  <a:srgbClr val="CADCFC"/>
                </a:solidFill>
                <a:latin typeface="Calibri"/>
              </a:rPr>
              <a:t>Compliance auto</a:t>
            </a:r>
            <a:r>
              <a:rPr lang="en-US" sz="1600" b="1" dirty="0">
                <a:solidFill>
                  <a:srgbClr val="FFFFFF"/>
                </a:solidFill>
                <a:latin typeface="Calibri"/>
              </a:rPr>
              <a:t>		$180K</a:t>
            </a:r>
          </a:p>
        </p:txBody>
      </p:sp>
      <p:sp>
        <p:nvSpPr>
          <p:cNvPr id="40" name="ImpactBanner"/>
          <p:cNvSpPr/>
          <p:nvPr/>
        </p:nvSpPr>
        <p:spPr>
          <a:xfrm>
            <a:off x="457200" y="5613400"/>
            <a:ext cx="8229600" cy="812800"/>
          </a:xfrm>
          <a:prstGeom prst="roundRect">
            <a:avLst>
              <a:gd name="adj" fmla="val 8000"/>
            </a:avLst>
          </a:prstGeom>
          <a:solidFill>
            <a:srgbClr val="1A3A5C"/>
          </a:solidFill>
          <a:ln w="12700">
            <a:solidFill>
              <a:srgbClr val="3A4A7F"/>
            </a:solidFill>
          </a:ln>
        </p:spPr>
        <p:txBody>
          <a:bodyPr wrap="square" lIns="144000" rIns="144000" rtlCol="0" anchor="ctr"/>
          <a:lstStyle/>
          <a:p>
            <a:pPr algn="ctr">
              <a:buNone/>
            </a:pPr>
            <a:r>
              <a:rPr lang="en-US" sz="1400" b="1" dirty="0">
                <a:solidFill>
                  <a:srgbClr val="FF6B35"/>
                </a:solidFill>
                <a:latin typeface="Calibri"/>
              </a:rPr>
              <a:t>24-48h → 30 min</a:t>
            </a:r>
            <a:r>
              <a:rPr lang="en-US" sz="1400" dirty="0">
                <a:solidFill>
                  <a:srgbClr val="CADCFC"/>
                </a:solidFill>
                <a:latin typeface="Calibri"/>
              </a:rPr>
              <a:t> response time    |    </a:t>
            </a:r>
            <a:r>
              <a:rPr lang="en-US" sz="1400" b="1" dirty="0">
                <a:solidFill>
                  <a:srgbClr val="FF6B35"/>
                </a:solidFill>
                <a:latin typeface="Calibri"/>
              </a:rPr>
              <a:t>60%</a:t>
            </a:r>
            <a:r>
              <a:rPr lang="en-US" sz="1400" dirty="0">
                <a:solidFill>
                  <a:srgbClr val="CADCFC"/>
                </a:solidFill>
                <a:latin typeface="Calibri"/>
              </a:rPr>
              <a:t> analyst time freed    |    </a:t>
            </a:r>
            <a:r>
              <a:rPr lang="en-US" sz="1400" b="1" dirty="0">
                <a:solidFill>
                  <a:srgbClr val="FF6B35"/>
                </a:solidFill>
                <a:latin typeface="Calibri"/>
              </a:rPr>
              <a:t>80%</a:t>
            </a:r>
            <a:r>
              <a:rPr lang="en-US" sz="1400" dirty="0">
                <a:solidFill>
                  <a:srgbClr val="CADCFC"/>
                </a:solidFill>
                <a:latin typeface="Calibri"/>
              </a:rPr>
              <a:t> prioritization accuracy</a:t>
            </a:r>
          </a:p>
        </p:txBody>
      </p:sp>
    </p:spTree>
    <p:extLst>
      <p:ext uri="{BB962C8B-B14F-4D97-AF65-F5344CB8AC3E}">
        <p14:creationId xmlns:p14="http://schemas.microsoft.com/office/powerpoint/2010/main" val="303645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600" b="1" dirty="0">
                <a:solidFill>
                  <a:srgbClr val="FFFFFF"/>
                </a:solidFill>
                <a:latin typeface="Calibri"/>
              </a:rPr>
              <a:t>PRODUCTION ARCHITECTURE ROADMAP</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Production Readiness</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Accent0"/>
          <p:cNvSpPr/>
          <p:nvPr/>
        </p:nvSpPr>
        <p:spPr>
          <a:xfrm>
            <a:off x="457200" y="1219200"/>
            <a:ext cx="2628900" cy="101600"/>
          </a:xfrm>
          <a:prstGeom prst="roundRect">
            <a:avLst>
              <a:gd name="adj" fmla="val 50000"/>
            </a:avLst>
          </a:prstGeom>
          <a:solidFill>
            <a:srgbClr val="02C39A"/>
          </a:solidFill>
          <a:ln>
            <a:noFill/>
          </a:ln>
        </p:spPr>
        <p:txBody>
          <a:bodyPr/>
          <a:lstStyle/>
          <a:p>
            <a:endParaRPr lang="en-US"/>
          </a:p>
        </p:txBody>
      </p:sp>
      <p:sp>
        <p:nvSpPr>
          <p:cNvPr id="21" name="Card0"/>
          <p:cNvSpPr/>
          <p:nvPr/>
        </p:nvSpPr>
        <p:spPr>
          <a:xfrm>
            <a:off x="457200" y="1320800"/>
            <a:ext cx="2635250" cy="5080000"/>
          </a:xfrm>
          <a:prstGeom prst="roundRect">
            <a:avLst>
              <a:gd name="adj" fmla="val 3000"/>
            </a:avLst>
          </a:prstGeom>
          <a:solidFill>
            <a:srgbClr val="0D1B3E"/>
          </a:solidFill>
          <a:ln>
            <a:noFill/>
          </a:ln>
        </p:spPr>
        <p:txBody>
          <a:bodyPr/>
          <a:lstStyle/>
          <a:p>
            <a:endParaRPr lang="en-US"/>
          </a:p>
        </p:txBody>
      </p:sp>
      <p:sp>
        <p:nvSpPr>
          <p:cNvPr id="22" name="PLabel0"/>
          <p:cNvSpPr txBox="1"/>
          <p:nvPr/>
        </p:nvSpPr>
        <p:spPr>
          <a:xfrm>
            <a:off x="635000" y="1498600"/>
            <a:ext cx="2438400" cy="863600"/>
          </a:xfrm>
          <a:prstGeom prst="rect">
            <a:avLst/>
          </a:prstGeom>
          <a:noFill/>
        </p:spPr>
        <p:txBody>
          <a:bodyPr wrap="square" rtlCol="0" anchor="t"/>
          <a:lstStyle/>
          <a:p>
            <a:pPr algn="l">
              <a:buNone/>
            </a:pPr>
            <a:r>
              <a:rPr lang="en-US" sz="1400" b="1" dirty="0">
                <a:solidFill>
                  <a:srgbClr val="02C39A"/>
                </a:solidFill>
                <a:latin typeface="Calibri"/>
              </a:rPr>
              <a:t>PHASE 1</a:t>
            </a:r>
          </a:p>
          <a:p>
            <a:pPr algn="l">
              <a:buNone/>
            </a:pPr>
            <a:r>
              <a:rPr lang="en-US" sz="1800" b="1" dirty="0">
                <a:solidFill>
                  <a:srgbClr val="FFFFFF"/>
                </a:solidFill>
                <a:latin typeface="Calibri"/>
              </a:rPr>
              <a:t>POC (Current)</a:t>
            </a:r>
          </a:p>
        </p:txBody>
      </p:sp>
      <p:sp>
        <p:nvSpPr>
          <p:cNvPr id="23" name="Items0"/>
          <p:cNvSpPr txBox="1"/>
          <p:nvPr/>
        </p:nvSpPr>
        <p:spPr>
          <a:xfrm>
            <a:off x="635000" y="2540000"/>
            <a:ext cx="2438400" cy="3556000"/>
          </a:xfrm>
          <a:prstGeom prst="rect">
            <a:avLst/>
          </a:prstGeom>
          <a:noFill/>
        </p:spPr>
        <p:txBody>
          <a:bodyPr wrap="square" rtlCol="0" anchor="t"/>
          <a:lstStyle/>
          <a:p>
            <a:pPr algn="l">
              <a:buNone/>
            </a:pPr>
            <a:r>
              <a:rPr lang="en-US" sz="1500" b="1" dirty="0">
                <a:solidFill>
                  <a:srgbClr val="02C39A"/>
                </a:solidFill>
                <a:latin typeface="Calibri"/>
              </a:rPr>
              <a:t>Data</a:t>
            </a:r>
          </a:p>
          <a:p>
            <a:pPr algn="l">
              <a:buNone/>
            </a:pPr>
            <a:r>
              <a:rPr lang="en-US" sz="1400" dirty="0">
                <a:solidFill>
                  <a:srgbClr val="CADCFC"/>
                </a:solidFill>
                <a:latin typeface="Calibri"/>
              </a:rPr>
              <a:t>Static - 100 CVEs, 25 assets</a:t>
            </a:r>
          </a:p>
          <a:p>
            <a:pPr algn="l">
              <a:buNone/>
            </a:pPr>
            <a:r>
              <a:rPr lang="en-US" sz="1500" b="1" dirty="0">
                <a:solidFill>
                  <a:srgbClr val="02C39A"/>
                </a:solidFill>
                <a:latin typeface="Calibri"/>
              </a:rPr>
              <a:t>Infra</a:t>
            </a:r>
          </a:p>
          <a:p>
            <a:pPr algn="l">
              <a:buNone/>
            </a:pPr>
            <a:r>
              <a:rPr lang="en-US" sz="1400" dirty="0">
                <a:solidFill>
                  <a:srgbClr val="CADCFC"/>
                </a:solidFill>
                <a:latin typeface="Calibri"/>
              </a:rPr>
              <a:t>LangFlow on local machine</a:t>
            </a:r>
          </a:p>
          <a:p>
            <a:pPr algn="l">
              <a:buNone/>
            </a:pPr>
            <a:r>
              <a:rPr lang="en-US" sz="1500" b="1" dirty="0">
                <a:solidFill>
                  <a:srgbClr val="02C39A"/>
                </a:solidFill>
                <a:latin typeface="Calibri"/>
              </a:rPr>
              <a:t>Scale</a:t>
            </a:r>
          </a:p>
          <a:p>
            <a:pPr algn="l">
              <a:buNone/>
            </a:pPr>
            <a:r>
              <a:rPr lang="en-US" sz="1400" dirty="0">
                <a:solidFill>
                  <a:srgbClr val="CADCFC"/>
                </a:solidFill>
                <a:latin typeface="Calibri"/>
              </a:rPr>
              <a:t>Single user, demo queries</a:t>
            </a:r>
          </a:p>
        </p:txBody>
      </p:sp>
      <p:sp>
        <p:nvSpPr>
          <p:cNvPr id="30" name="Accent1"/>
          <p:cNvSpPr/>
          <p:nvPr/>
        </p:nvSpPr>
        <p:spPr>
          <a:xfrm>
            <a:off x="3295650" y="1219200"/>
            <a:ext cx="2628900" cy="101600"/>
          </a:xfrm>
          <a:prstGeom prst="roundRect">
            <a:avLst>
              <a:gd name="adj" fmla="val 50000"/>
            </a:avLst>
          </a:prstGeom>
          <a:solidFill>
            <a:srgbClr val="3A86FF"/>
          </a:solidFill>
          <a:ln>
            <a:noFill/>
          </a:ln>
        </p:spPr>
        <p:txBody>
          <a:bodyPr/>
          <a:lstStyle/>
          <a:p>
            <a:endParaRPr lang="en-US"/>
          </a:p>
        </p:txBody>
      </p:sp>
      <p:sp>
        <p:nvSpPr>
          <p:cNvPr id="31" name="Card1"/>
          <p:cNvSpPr/>
          <p:nvPr/>
        </p:nvSpPr>
        <p:spPr>
          <a:xfrm>
            <a:off x="3295650" y="1320800"/>
            <a:ext cx="2628900" cy="5080000"/>
          </a:xfrm>
          <a:prstGeom prst="roundRect">
            <a:avLst>
              <a:gd name="adj" fmla="val 3000"/>
            </a:avLst>
          </a:prstGeom>
          <a:solidFill>
            <a:srgbClr val="0D1B3E"/>
          </a:solidFill>
          <a:ln>
            <a:noFill/>
          </a:ln>
        </p:spPr>
        <p:txBody>
          <a:bodyPr/>
          <a:lstStyle/>
          <a:p>
            <a:endParaRPr lang="en-US"/>
          </a:p>
        </p:txBody>
      </p:sp>
      <p:sp>
        <p:nvSpPr>
          <p:cNvPr id="32" name="PLabel1"/>
          <p:cNvSpPr txBox="1"/>
          <p:nvPr/>
        </p:nvSpPr>
        <p:spPr>
          <a:xfrm>
            <a:off x="3473450" y="1498600"/>
            <a:ext cx="2438400" cy="863600"/>
          </a:xfrm>
          <a:prstGeom prst="rect">
            <a:avLst/>
          </a:prstGeom>
          <a:noFill/>
        </p:spPr>
        <p:txBody>
          <a:bodyPr wrap="square" rtlCol="0" anchor="t"/>
          <a:lstStyle/>
          <a:p>
            <a:pPr algn="l">
              <a:buNone/>
            </a:pPr>
            <a:r>
              <a:rPr lang="en-US" sz="1400" b="1" dirty="0">
                <a:solidFill>
                  <a:srgbClr val="3A86FF"/>
                </a:solidFill>
                <a:latin typeface="Calibri"/>
              </a:rPr>
              <a:t>PHASE 2</a:t>
            </a:r>
          </a:p>
          <a:p>
            <a:pPr algn="l">
              <a:buNone/>
            </a:pPr>
            <a:r>
              <a:rPr lang="en-US" sz="1800" b="1" dirty="0">
                <a:solidFill>
                  <a:srgbClr val="FFFFFF"/>
                </a:solidFill>
                <a:latin typeface="Calibri"/>
              </a:rPr>
              <a:t>MVP (Month 1-2)</a:t>
            </a:r>
          </a:p>
        </p:txBody>
      </p:sp>
      <p:sp>
        <p:nvSpPr>
          <p:cNvPr id="33" name="Items1"/>
          <p:cNvSpPr txBox="1"/>
          <p:nvPr/>
        </p:nvSpPr>
        <p:spPr>
          <a:xfrm>
            <a:off x="3473450" y="2540000"/>
            <a:ext cx="2343150" cy="3556000"/>
          </a:xfrm>
          <a:prstGeom prst="rect">
            <a:avLst/>
          </a:prstGeom>
          <a:noFill/>
        </p:spPr>
        <p:txBody>
          <a:bodyPr wrap="square" rtlCol="0" anchor="t"/>
          <a:lstStyle/>
          <a:p>
            <a:pPr algn="l">
              <a:buNone/>
            </a:pPr>
            <a:r>
              <a:rPr lang="en-US" sz="1500" b="1" dirty="0">
                <a:solidFill>
                  <a:srgbClr val="3A86FF"/>
                </a:solidFill>
                <a:latin typeface="Calibri"/>
              </a:rPr>
              <a:t>Data</a:t>
            </a:r>
          </a:p>
          <a:p>
            <a:pPr algn="l">
              <a:buNone/>
            </a:pPr>
            <a:r>
              <a:rPr lang="en-US" sz="1400" dirty="0">
                <a:solidFill>
                  <a:srgbClr val="CADCFC"/>
                </a:solidFill>
                <a:latin typeface="Calibri"/>
              </a:rPr>
              <a:t>Real-time - NVD API/MCP, CMDB</a:t>
            </a:r>
          </a:p>
          <a:p>
            <a:pPr algn="l">
              <a:buNone/>
            </a:pPr>
            <a:r>
              <a:rPr lang="en-US" sz="1500" b="1" dirty="0">
                <a:solidFill>
                  <a:srgbClr val="3A86FF"/>
                </a:solidFill>
                <a:latin typeface="Calibri"/>
              </a:rPr>
              <a:t>Infra</a:t>
            </a:r>
          </a:p>
          <a:p>
            <a:pPr algn="l">
              <a:buNone/>
            </a:pPr>
            <a:r>
              <a:rPr lang="en-US" sz="1400" dirty="0">
                <a:solidFill>
                  <a:srgbClr val="CADCFC"/>
                </a:solidFill>
                <a:latin typeface="Calibri"/>
              </a:rPr>
              <a:t>OpenAI API + Azure Functions</a:t>
            </a:r>
          </a:p>
          <a:p>
            <a:pPr algn="l">
              <a:buNone/>
            </a:pPr>
            <a:r>
              <a:rPr lang="en-US" sz="1500" b="1" dirty="0">
                <a:solidFill>
                  <a:srgbClr val="3A86FF"/>
                </a:solidFill>
                <a:latin typeface="Calibri"/>
              </a:rPr>
              <a:t>Scale</a:t>
            </a:r>
          </a:p>
          <a:p>
            <a:pPr algn="l">
              <a:buNone/>
            </a:pPr>
            <a:r>
              <a:rPr lang="en-US" sz="1400" dirty="0">
                <a:solidFill>
                  <a:srgbClr val="CADCFC"/>
                </a:solidFill>
                <a:latin typeface="Calibri"/>
              </a:rPr>
              <a:t>Security team (5-10 users)</a:t>
            </a:r>
          </a:p>
        </p:txBody>
      </p:sp>
      <p:sp>
        <p:nvSpPr>
          <p:cNvPr id="40" name="Accent2"/>
          <p:cNvSpPr/>
          <p:nvPr/>
        </p:nvSpPr>
        <p:spPr>
          <a:xfrm>
            <a:off x="6096000" y="1219200"/>
            <a:ext cx="2628900" cy="101600"/>
          </a:xfrm>
          <a:prstGeom prst="roundRect">
            <a:avLst>
              <a:gd name="adj" fmla="val 50000"/>
            </a:avLst>
          </a:prstGeom>
          <a:solidFill>
            <a:srgbClr val="FF6B35"/>
          </a:solidFill>
          <a:ln>
            <a:noFill/>
          </a:ln>
        </p:spPr>
        <p:txBody>
          <a:bodyPr/>
          <a:lstStyle/>
          <a:p>
            <a:endParaRPr lang="en-US"/>
          </a:p>
        </p:txBody>
      </p:sp>
      <p:sp>
        <p:nvSpPr>
          <p:cNvPr id="41" name="Card2"/>
          <p:cNvSpPr/>
          <p:nvPr/>
        </p:nvSpPr>
        <p:spPr>
          <a:xfrm>
            <a:off x="6096000" y="1320800"/>
            <a:ext cx="2628900" cy="5080000"/>
          </a:xfrm>
          <a:prstGeom prst="roundRect">
            <a:avLst>
              <a:gd name="adj" fmla="val 3000"/>
            </a:avLst>
          </a:prstGeom>
          <a:solidFill>
            <a:srgbClr val="0D1B3E"/>
          </a:solidFill>
          <a:ln>
            <a:noFill/>
          </a:ln>
        </p:spPr>
        <p:txBody>
          <a:bodyPr/>
          <a:lstStyle/>
          <a:p>
            <a:endParaRPr lang="en-US"/>
          </a:p>
        </p:txBody>
      </p:sp>
      <p:sp>
        <p:nvSpPr>
          <p:cNvPr id="42" name="PLabel2"/>
          <p:cNvSpPr txBox="1"/>
          <p:nvPr/>
        </p:nvSpPr>
        <p:spPr>
          <a:xfrm>
            <a:off x="6273800" y="1498600"/>
            <a:ext cx="2438400" cy="863600"/>
          </a:xfrm>
          <a:prstGeom prst="rect">
            <a:avLst/>
          </a:prstGeom>
          <a:noFill/>
        </p:spPr>
        <p:txBody>
          <a:bodyPr wrap="square" rtlCol="0" anchor="t"/>
          <a:lstStyle/>
          <a:p>
            <a:pPr algn="l">
              <a:buNone/>
            </a:pPr>
            <a:r>
              <a:rPr lang="en-US" sz="1400" b="1" dirty="0">
                <a:solidFill>
                  <a:srgbClr val="FF6B35"/>
                </a:solidFill>
                <a:latin typeface="Calibri"/>
              </a:rPr>
              <a:t>PHASE 3</a:t>
            </a:r>
          </a:p>
          <a:p>
            <a:pPr algn="l">
              <a:buNone/>
            </a:pPr>
            <a:r>
              <a:rPr lang="en-US" sz="1800" b="1" dirty="0">
                <a:solidFill>
                  <a:srgbClr val="FFFFFF"/>
                </a:solidFill>
                <a:latin typeface="Calibri"/>
              </a:rPr>
              <a:t>Production (Month 3-6)</a:t>
            </a:r>
          </a:p>
        </p:txBody>
      </p:sp>
      <p:sp>
        <p:nvSpPr>
          <p:cNvPr id="43" name="Items2"/>
          <p:cNvSpPr txBox="1"/>
          <p:nvPr/>
        </p:nvSpPr>
        <p:spPr>
          <a:xfrm>
            <a:off x="6273800" y="2540000"/>
            <a:ext cx="2438400" cy="3556000"/>
          </a:xfrm>
          <a:prstGeom prst="rect">
            <a:avLst/>
          </a:prstGeom>
          <a:noFill/>
        </p:spPr>
        <p:txBody>
          <a:bodyPr wrap="square" rtlCol="0" anchor="t"/>
          <a:lstStyle/>
          <a:p>
            <a:pPr algn="l">
              <a:buNone/>
            </a:pPr>
            <a:r>
              <a:rPr lang="en-US" sz="1500" b="1" dirty="0">
                <a:solidFill>
                  <a:srgbClr val="FF6B35"/>
                </a:solidFill>
                <a:latin typeface="Calibri"/>
              </a:rPr>
              <a:t>Data</a:t>
            </a:r>
          </a:p>
          <a:p>
            <a:pPr algn="l">
              <a:buNone/>
            </a:pPr>
            <a:r>
              <a:rPr lang="en-US" sz="1400" dirty="0">
                <a:solidFill>
                  <a:srgbClr val="CADCFC"/>
                </a:solidFill>
                <a:latin typeface="Calibri"/>
              </a:rPr>
              <a:t>Multi-source - NVD + MITRE</a:t>
            </a:r>
          </a:p>
          <a:p>
            <a:pPr algn="l">
              <a:buNone/>
            </a:pPr>
            <a:r>
              <a:rPr lang="en-US" sz="1500" b="1" dirty="0">
                <a:solidFill>
                  <a:srgbClr val="FF6B35"/>
                </a:solidFill>
                <a:latin typeface="Calibri"/>
              </a:rPr>
              <a:t>Infra</a:t>
            </a:r>
          </a:p>
          <a:p>
            <a:pPr algn="l">
              <a:buNone/>
            </a:pPr>
            <a:r>
              <a:rPr lang="en-US" sz="1400" dirty="0">
                <a:solidFill>
                  <a:srgbClr val="CADCFC"/>
                </a:solidFill>
                <a:latin typeface="Calibri"/>
              </a:rPr>
              <a:t>AKS + Azure Cache for Redis</a:t>
            </a:r>
          </a:p>
          <a:p>
            <a:pPr algn="l">
              <a:buNone/>
            </a:pPr>
            <a:r>
              <a:rPr lang="en-US" sz="1500" b="1" dirty="0">
                <a:solidFill>
                  <a:srgbClr val="FF6B35"/>
                </a:solidFill>
                <a:latin typeface="Calibri"/>
              </a:rPr>
              <a:t>Scale</a:t>
            </a:r>
          </a:p>
          <a:p>
            <a:pPr algn="l">
              <a:buNone/>
            </a:pPr>
            <a:r>
              <a:rPr lang="en-US" sz="1400" dirty="0">
                <a:solidFill>
                  <a:srgbClr val="CADCFC"/>
                </a:solidFill>
                <a:latin typeface="Calibri"/>
              </a:rPr>
              <a:t>Enterprise (50+ users)</a:t>
            </a:r>
          </a:p>
        </p:txBody>
      </p:sp>
      <p:sp>
        <p:nvSpPr>
          <p:cNvPr id="60" name="A1"/>
          <p:cNvSpPr/>
          <p:nvPr/>
        </p:nvSpPr>
        <p:spPr>
          <a:xfrm>
            <a:off x="3079750" y="3683000"/>
            <a:ext cx="228600" cy="203200"/>
          </a:xfrm>
          <a:prstGeom prst="rightArrow">
            <a:avLst/>
          </a:prstGeom>
          <a:solidFill>
            <a:srgbClr val="02C39A"/>
          </a:solidFill>
          <a:ln>
            <a:noFill/>
          </a:ln>
        </p:spPr>
        <p:txBody>
          <a:bodyPr/>
          <a:lstStyle/>
          <a:p>
            <a:endParaRPr lang="en-US"/>
          </a:p>
        </p:txBody>
      </p:sp>
      <p:sp>
        <p:nvSpPr>
          <p:cNvPr id="61" name="A2"/>
          <p:cNvSpPr/>
          <p:nvPr/>
        </p:nvSpPr>
        <p:spPr>
          <a:xfrm>
            <a:off x="5911850" y="3683000"/>
            <a:ext cx="228600" cy="203200"/>
          </a:xfrm>
          <a:prstGeom prst="rightArrow">
            <a:avLst/>
          </a:prstGeom>
          <a:solidFill>
            <a:srgbClr val="02C39A"/>
          </a:solidFill>
          <a:ln>
            <a:noFill/>
          </a:ln>
        </p:spPr>
        <p:txBody>
          <a:bodyPr/>
          <a:lstStyle/>
          <a:p>
            <a:endParaRPr lang="en-US"/>
          </a:p>
        </p:txBody>
      </p:sp>
    </p:spTree>
    <p:extLst>
      <p:ext uri="{BB962C8B-B14F-4D97-AF65-F5344CB8AC3E}">
        <p14:creationId xmlns:p14="http://schemas.microsoft.com/office/powerpoint/2010/main" val="115219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SCALABILITY &amp; RELIABILITY</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Production Readiness</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M0"/>
          <p:cNvSpPr/>
          <p:nvPr/>
        </p:nvSpPr>
        <p:spPr>
          <a:xfrm>
            <a:off x="457200" y="1219200"/>
            <a:ext cx="2540000" cy="1270000"/>
          </a:xfrm>
          <a:prstGeom prst="roundRect">
            <a:avLst>
              <a:gd name="adj" fmla="val 5000"/>
            </a:avLst>
          </a:prstGeom>
          <a:solidFill>
            <a:srgbClr val="0D1B3E"/>
          </a:solidFill>
          <a:ln w="12700">
            <a:solidFill>
              <a:srgbClr val="02C39A"/>
            </a:solidFill>
          </a:ln>
        </p:spPr>
        <p:txBody>
          <a:bodyPr wrap="square" rtlCol="0" anchor="ctr"/>
          <a:lstStyle/>
          <a:p>
            <a:pPr algn="ctr">
              <a:buNone/>
            </a:pPr>
            <a:r>
              <a:rPr lang="en-US" sz="2800" b="1" dirty="0">
                <a:solidFill>
                  <a:srgbClr val="02C39A"/>
                </a:solidFill>
                <a:latin typeface="Calibri"/>
              </a:rPr>
              <a:t>&lt; 5 sec</a:t>
            </a:r>
          </a:p>
          <a:p>
            <a:pPr algn="ctr">
              <a:buNone/>
            </a:pPr>
            <a:r>
              <a:rPr lang="en-US" sz="1400" dirty="0">
                <a:solidFill>
                  <a:srgbClr val="CADCFC"/>
                </a:solidFill>
                <a:latin typeface="Calibri"/>
              </a:rPr>
              <a:t>Response Time</a:t>
            </a:r>
          </a:p>
        </p:txBody>
      </p:sp>
      <p:sp>
        <p:nvSpPr>
          <p:cNvPr id="21" name="M1"/>
          <p:cNvSpPr/>
          <p:nvPr/>
        </p:nvSpPr>
        <p:spPr>
          <a:xfrm>
            <a:off x="3302000" y="1219200"/>
            <a:ext cx="2540000" cy="1270000"/>
          </a:xfrm>
          <a:prstGeom prst="roundRect">
            <a:avLst>
              <a:gd name="adj" fmla="val 5000"/>
            </a:avLst>
          </a:prstGeom>
          <a:solidFill>
            <a:srgbClr val="0D1B3E"/>
          </a:solidFill>
          <a:ln w="12700">
            <a:solidFill>
              <a:srgbClr val="3A86FF"/>
            </a:solidFill>
          </a:ln>
        </p:spPr>
        <p:txBody>
          <a:bodyPr wrap="square" rtlCol="0" anchor="ctr"/>
          <a:lstStyle/>
          <a:p>
            <a:pPr algn="ctr">
              <a:buNone/>
            </a:pPr>
            <a:r>
              <a:rPr lang="en-US" sz="2800" b="1" dirty="0">
                <a:solidFill>
                  <a:srgbClr val="3A86FF"/>
                </a:solidFill>
                <a:latin typeface="Calibri"/>
              </a:rPr>
              <a:t>99.9%</a:t>
            </a:r>
          </a:p>
          <a:p>
            <a:pPr algn="ctr">
              <a:buNone/>
            </a:pPr>
            <a:r>
              <a:rPr lang="en-US" sz="1400" dirty="0">
                <a:solidFill>
                  <a:srgbClr val="CADCFC"/>
                </a:solidFill>
                <a:latin typeface="Calibri"/>
              </a:rPr>
              <a:t>Uptime SLA</a:t>
            </a:r>
          </a:p>
        </p:txBody>
      </p:sp>
      <p:sp>
        <p:nvSpPr>
          <p:cNvPr id="22" name="M2"/>
          <p:cNvSpPr/>
          <p:nvPr/>
        </p:nvSpPr>
        <p:spPr>
          <a:xfrm>
            <a:off x="6146800" y="1219200"/>
            <a:ext cx="2540000" cy="1270000"/>
          </a:xfrm>
          <a:prstGeom prst="roundRect">
            <a:avLst>
              <a:gd name="adj" fmla="val 5000"/>
            </a:avLst>
          </a:prstGeom>
          <a:solidFill>
            <a:srgbClr val="0D1B3E"/>
          </a:solidFill>
          <a:ln w="12700">
            <a:solidFill>
              <a:srgbClr val="FF6B35"/>
            </a:solidFill>
          </a:ln>
        </p:spPr>
        <p:txBody>
          <a:bodyPr wrap="square" rtlCol="0" anchor="ctr"/>
          <a:lstStyle/>
          <a:p>
            <a:pPr algn="ctr">
              <a:buNone/>
            </a:pPr>
            <a:r>
              <a:rPr lang="en-US" sz="2800" b="1" dirty="0">
                <a:solidFill>
                  <a:srgbClr val="FF6B35"/>
                </a:solidFill>
                <a:latin typeface="Calibri"/>
              </a:rPr>
              <a:t>50+</a:t>
            </a:r>
          </a:p>
          <a:p>
            <a:pPr algn="ctr">
              <a:buNone/>
            </a:pPr>
            <a:r>
              <a:rPr lang="en-US" sz="1400" dirty="0">
                <a:solidFill>
                  <a:srgbClr val="CADCFC"/>
                </a:solidFill>
                <a:latin typeface="Calibri"/>
              </a:rPr>
              <a:t>Concurrent Users</a:t>
            </a:r>
          </a:p>
        </p:txBody>
      </p:sp>
      <p:sp>
        <p:nvSpPr>
          <p:cNvPr id="30" name="I0"/>
          <p:cNvSpPr/>
          <p:nvPr/>
        </p:nvSpPr>
        <p:spPr>
          <a:xfrm>
            <a:off x="457200" y="2717800"/>
            <a:ext cx="4038600" cy="1625600"/>
          </a:xfrm>
          <a:prstGeom prst="roundRect">
            <a:avLst>
              <a:gd name="adj" fmla="val 4000"/>
            </a:avLst>
          </a:prstGeom>
          <a:solidFill>
            <a:srgbClr val="0D1B3E"/>
          </a:solidFill>
          <a:ln>
            <a:noFill/>
          </a:ln>
        </p:spPr>
        <p:txBody>
          <a:bodyPr wrap="square" lIns="180000" rIns="144000" rtlCol="0" anchor="ctr"/>
          <a:lstStyle/>
          <a:p>
            <a:pPr algn="l">
              <a:buNone/>
            </a:pPr>
            <a:r>
              <a:rPr lang="en-US" sz="1800" b="1" dirty="0">
                <a:solidFill>
                  <a:srgbClr val="02C39A"/>
                </a:solidFill>
                <a:latin typeface="Calibri"/>
              </a:rPr>
              <a:t>Load Balancing</a:t>
            </a:r>
          </a:p>
          <a:p>
            <a:pPr algn="l">
              <a:buNone/>
            </a:pPr>
            <a:r>
              <a:rPr lang="en-US" sz="1400" dirty="0">
                <a:solidFill>
                  <a:srgbClr val="CADCFC"/>
                </a:solidFill>
                <a:latin typeface="Calibri"/>
              </a:rPr>
              <a:t>Azure App Gateway with VMSS auto-scaling</a:t>
            </a:r>
          </a:p>
        </p:txBody>
      </p:sp>
      <p:sp>
        <p:nvSpPr>
          <p:cNvPr id="31" name="I1"/>
          <p:cNvSpPr/>
          <p:nvPr/>
        </p:nvSpPr>
        <p:spPr>
          <a:xfrm>
            <a:off x="4648200" y="2717800"/>
            <a:ext cx="4038600" cy="1625600"/>
          </a:xfrm>
          <a:prstGeom prst="roundRect">
            <a:avLst>
              <a:gd name="adj" fmla="val 4000"/>
            </a:avLst>
          </a:prstGeom>
          <a:solidFill>
            <a:srgbClr val="0D1B3E"/>
          </a:solidFill>
          <a:ln>
            <a:noFill/>
          </a:ln>
        </p:spPr>
        <p:txBody>
          <a:bodyPr wrap="square" lIns="180000" rIns="144000" rtlCol="0" anchor="ctr"/>
          <a:lstStyle/>
          <a:p>
            <a:pPr algn="l">
              <a:buNone/>
            </a:pPr>
            <a:r>
              <a:rPr lang="en-US" sz="1800" b="1" dirty="0">
                <a:solidFill>
                  <a:srgbClr val="3A86FF"/>
                </a:solidFill>
                <a:latin typeface="Calibri"/>
              </a:rPr>
              <a:t>Caching</a:t>
            </a:r>
          </a:p>
          <a:p>
            <a:pPr algn="l">
              <a:buNone/>
            </a:pPr>
            <a:r>
              <a:rPr lang="en-US" sz="1400" dirty="0">
                <a:solidFill>
                  <a:srgbClr val="CADCFC"/>
                </a:solidFill>
                <a:latin typeface="Calibri"/>
              </a:rPr>
              <a:t>Azure Cache for Redis (90% hit rate)</a:t>
            </a:r>
          </a:p>
        </p:txBody>
      </p:sp>
      <p:sp>
        <p:nvSpPr>
          <p:cNvPr id="32" name="I2"/>
          <p:cNvSpPr/>
          <p:nvPr/>
        </p:nvSpPr>
        <p:spPr>
          <a:xfrm>
            <a:off x="457200" y="4521200"/>
            <a:ext cx="4038600" cy="1625600"/>
          </a:xfrm>
          <a:prstGeom prst="roundRect">
            <a:avLst>
              <a:gd name="adj" fmla="val 4000"/>
            </a:avLst>
          </a:prstGeom>
          <a:solidFill>
            <a:srgbClr val="0D1B3E"/>
          </a:solidFill>
          <a:ln>
            <a:noFill/>
          </a:ln>
        </p:spPr>
        <p:txBody>
          <a:bodyPr wrap="square" lIns="180000" rIns="144000" rtlCol="0" anchor="ctr"/>
          <a:lstStyle/>
          <a:p>
            <a:pPr algn="l">
              <a:buNone/>
            </a:pPr>
            <a:r>
              <a:rPr lang="en-US" sz="1800" b="1" dirty="0">
                <a:solidFill>
                  <a:srgbClr val="FF6B35"/>
                </a:solidFill>
                <a:latin typeface="Calibri"/>
              </a:rPr>
              <a:t>Monitoring</a:t>
            </a:r>
          </a:p>
          <a:p>
            <a:pPr algn="l">
              <a:buNone/>
            </a:pPr>
            <a:r>
              <a:rPr lang="en-US" sz="1400" dirty="0">
                <a:solidFill>
                  <a:srgbClr val="CADCFC"/>
                </a:solidFill>
                <a:latin typeface="Calibri"/>
              </a:rPr>
              <a:t>Azure Monitor + Managed Grafana dashboards</a:t>
            </a:r>
          </a:p>
        </p:txBody>
      </p:sp>
      <p:sp>
        <p:nvSpPr>
          <p:cNvPr id="33" name="I3"/>
          <p:cNvSpPr/>
          <p:nvPr/>
        </p:nvSpPr>
        <p:spPr>
          <a:xfrm>
            <a:off x="4648200" y="4521200"/>
            <a:ext cx="4038600" cy="1625600"/>
          </a:xfrm>
          <a:prstGeom prst="roundRect">
            <a:avLst>
              <a:gd name="adj" fmla="val 4000"/>
            </a:avLst>
          </a:prstGeom>
          <a:solidFill>
            <a:srgbClr val="0D1B3E"/>
          </a:solidFill>
          <a:ln>
            <a:noFill/>
          </a:ln>
        </p:spPr>
        <p:txBody>
          <a:bodyPr wrap="square" lIns="180000" rIns="144000" rtlCol="0" anchor="ctr"/>
          <a:lstStyle/>
          <a:p>
            <a:pPr algn="l">
              <a:buNone/>
            </a:pPr>
            <a:r>
              <a:rPr lang="en-US" sz="1800" b="1" dirty="0">
                <a:solidFill>
                  <a:srgbClr val="E63946"/>
                </a:solidFill>
                <a:latin typeface="Calibri"/>
              </a:rPr>
              <a:t>DR/Backup</a:t>
            </a:r>
          </a:p>
          <a:p>
            <a:pPr algn="l">
              <a:buNone/>
            </a:pPr>
            <a:r>
              <a:rPr lang="en-US" sz="1400" dirty="0">
                <a:solidFill>
                  <a:srgbClr val="CADCFC"/>
                </a:solidFill>
                <a:latin typeface="Calibri"/>
              </a:rPr>
              <a:t>Azure paired regions, hourly backups</a:t>
            </a:r>
          </a:p>
        </p:txBody>
      </p:sp>
    </p:spTree>
    <p:extLst>
      <p:ext uri="{BB962C8B-B14F-4D97-AF65-F5344CB8AC3E}">
        <p14:creationId xmlns:p14="http://schemas.microsoft.com/office/powerpoint/2010/main" val="4179999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SECURITY &amp; COMPLIANCE</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Production Readiness</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RAICard"/>
          <p:cNvSpPr/>
          <p:nvPr/>
        </p:nvSpPr>
        <p:spPr>
          <a:xfrm>
            <a:off x="457200" y="1219200"/>
            <a:ext cx="4038600" cy="3556000"/>
          </a:xfrm>
          <a:prstGeom prst="roundRect">
            <a:avLst>
              <a:gd name="adj" fmla="val 3000"/>
            </a:avLst>
          </a:prstGeom>
          <a:solidFill>
            <a:srgbClr val="0D1B3E"/>
          </a:solidFill>
          <a:ln>
            <a:noFill/>
          </a:ln>
        </p:spPr>
        <p:txBody>
          <a:bodyPr wrap="square" lIns="180000" tIns="108000" rIns="108000" bIns="72000" rtlCol="0" anchor="t"/>
          <a:lstStyle/>
          <a:p>
            <a:pPr algn="l">
              <a:buNone/>
            </a:pPr>
            <a:r>
              <a:rPr lang="en-US" sz="1800" b="1" dirty="0">
                <a:solidFill>
                  <a:srgbClr val="02C39A"/>
                </a:solidFill>
                <a:latin typeface="Calibri"/>
              </a:rPr>
              <a:t>RAI Safeguards</a:t>
            </a:r>
          </a:p>
          <a:p>
            <a:pPr algn="l">
              <a:buNone/>
            </a:pPr>
            <a:r>
              <a:rPr lang="en-US" sz="1400" dirty="0">
                <a:solidFill>
                  <a:srgbClr val="02C39A"/>
                </a:solidFill>
                <a:latin typeface="Calibri"/>
              </a:rPr>
              <a:t>✔  </a:t>
            </a:r>
            <a:r>
              <a:rPr lang="en-US" sz="1400" dirty="0">
                <a:solidFill>
                  <a:srgbClr val="CADCFC"/>
                </a:solidFill>
                <a:latin typeface="Calibri"/>
              </a:rPr>
              <a:t>Scope validator blocks malicious queries</a:t>
            </a:r>
          </a:p>
          <a:p>
            <a:pPr algn="l">
              <a:buNone/>
            </a:pPr>
            <a:r>
              <a:rPr lang="en-US" sz="1400" dirty="0">
                <a:solidFill>
                  <a:srgbClr val="02C39A"/>
                </a:solidFill>
                <a:latin typeface="Calibri"/>
              </a:rPr>
              <a:t>✔  </a:t>
            </a:r>
            <a:r>
              <a:rPr lang="en-US" sz="1400" dirty="0">
                <a:solidFill>
                  <a:srgbClr val="CADCFC"/>
                </a:solidFill>
                <a:latin typeface="Calibri"/>
              </a:rPr>
              <a:t>No exploitation instructions generated</a:t>
            </a:r>
          </a:p>
          <a:p>
            <a:pPr algn="l">
              <a:buNone/>
            </a:pPr>
            <a:r>
              <a:rPr lang="en-US" sz="1400" dirty="0">
                <a:solidFill>
                  <a:srgbClr val="02C39A"/>
                </a:solidFill>
                <a:latin typeface="Calibri"/>
              </a:rPr>
              <a:t>✔  </a:t>
            </a:r>
            <a:r>
              <a:rPr lang="en-US" sz="1400" dirty="0">
                <a:solidFill>
                  <a:srgbClr val="CADCFC"/>
                </a:solidFill>
                <a:latin typeface="Calibri"/>
              </a:rPr>
              <a:t>Audit logging of all agent actions</a:t>
            </a:r>
          </a:p>
          <a:p>
            <a:pPr algn="l">
              <a:buNone/>
            </a:pPr>
            <a:r>
              <a:rPr lang="en-US" sz="1400" dirty="0">
                <a:solidFill>
                  <a:srgbClr val="02C39A"/>
                </a:solidFill>
                <a:latin typeface="Calibri"/>
              </a:rPr>
              <a:t>✔  </a:t>
            </a:r>
            <a:r>
              <a:rPr lang="en-US" sz="1400" dirty="0">
                <a:solidFill>
                  <a:srgbClr val="CADCFC"/>
                </a:solidFill>
                <a:latin typeface="Calibri"/>
              </a:rPr>
              <a:t>Rate limiting (100 queries/user/hour)</a:t>
            </a:r>
          </a:p>
          <a:p>
            <a:pPr algn="l">
              <a:buNone/>
            </a:pPr>
            <a:r>
              <a:rPr lang="en-US" sz="1400" dirty="0">
                <a:solidFill>
                  <a:srgbClr val="02C39A"/>
                </a:solidFill>
                <a:latin typeface="Calibri"/>
              </a:rPr>
              <a:t>✔  </a:t>
            </a:r>
            <a:r>
              <a:rPr lang="en-US" sz="1400" dirty="0">
                <a:solidFill>
                  <a:srgbClr val="CADCFC"/>
                </a:solidFill>
                <a:latin typeface="Calibri"/>
              </a:rPr>
              <a:t>Data encryption at rest and in transit</a:t>
            </a:r>
          </a:p>
        </p:txBody>
      </p:sp>
      <p:sp>
        <p:nvSpPr>
          <p:cNvPr id="21" name="CompCard"/>
          <p:cNvSpPr/>
          <p:nvPr/>
        </p:nvSpPr>
        <p:spPr>
          <a:xfrm>
            <a:off x="4648200" y="1219200"/>
            <a:ext cx="4038600" cy="3556000"/>
          </a:xfrm>
          <a:prstGeom prst="roundRect">
            <a:avLst>
              <a:gd name="adj" fmla="val 3000"/>
            </a:avLst>
          </a:prstGeom>
          <a:solidFill>
            <a:srgbClr val="0D1B3E"/>
          </a:solidFill>
          <a:ln>
            <a:noFill/>
          </a:ln>
        </p:spPr>
        <p:txBody>
          <a:bodyPr wrap="square" lIns="180000" tIns="108000" rIns="108000" bIns="72000" rtlCol="0" anchor="t"/>
          <a:lstStyle/>
          <a:p>
            <a:pPr algn="l">
              <a:buNone/>
            </a:pPr>
            <a:r>
              <a:rPr lang="en-US" sz="1800" b="1" dirty="0">
                <a:solidFill>
                  <a:srgbClr val="3A86FF"/>
                </a:solidFill>
                <a:latin typeface="Calibri"/>
              </a:rPr>
              <a:t>Compliance Alignment</a:t>
            </a:r>
          </a:p>
          <a:p>
            <a:pPr algn="l">
              <a:buNone/>
            </a:pPr>
            <a:r>
              <a:rPr lang="en-US" sz="1400" dirty="0">
                <a:solidFill>
                  <a:srgbClr val="3A86FF"/>
                </a:solidFill>
                <a:latin typeface="Calibri"/>
              </a:rPr>
              <a:t>✔  </a:t>
            </a:r>
            <a:r>
              <a:rPr lang="en-US" sz="1400" b="1" dirty="0">
                <a:solidFill>
                  <a:srgbClr val="FFFFFF"/>
                </a:solidFill>
                <a:latin typeface="Calibri"/>
              </a:rPr>
              <a:t>SOC 2 Type II: </a:t>
            </a:r>
            <a:r>
              <a:rPr lang="en-US" sz="1400" dirty="0">
                <a:solidFill>
                  <a:srgbClr val="CADCFC"/>
                </a:solidFill>
                <a:latin typeface="Calibri"/>
              </a:rPr>
              <a:t>Data handling controls</a:t>
            </a:r>
          </a:p>
          <a:p>
            <a:pPr algn="l">
              <a:buNone/>
            </a:pPr>
            <a:r>
              <a:rPr lang="en-US" sz="1400" dirty="0">
                <a:solidFill>
                  <a:srgbClr val="3A86FF"/>
                </a:solidFill>
                <a:latin typeface="Calibri"/>
              </a:rPr>
              <a:t>✔  </a:t>
            </a:r>
            <a:r>
              <a:rPr lang="en-US" sz="1400" b="1" dirty="0">
                <a:solidFill>
                  <a:srgbClr val="FFFFFF"/>
                </a:solidFill>
                <a:latin typeface="Calibri"/>
              </a:rPr>
              <a:t>GDPR: </a:t>
            </a:r>
            <a:r>
              <a:rPr lang="en-US" sz="1400" dirty="0">
                <a:solidFill>
                  <a:srgbClr val="CADCFC"/>
                </a:solidFill>
                <a:latin typeface="Calibri"/>
              </a:rPr>
              <a:t>No PII in vector embeddings</a:t>
            </a:r>
          </a:p>
          <a:p>
            <a:pPr algn="l">
              <a:buNone/>
            </a:pPr>
            <a:r>
              <a:rPr lang="en-US" sz="1400" dirty="0">
                <a:solidFill>
                  <a:srgbClr val="3A86FF"/>
                </a:solidFill>
                <a:latin typeface="Calibri"/>
              </a:rPr>
              <a:t>✔  </a:t>
            </a:r>
            <a:r>
              <a:rPr lang="en-US" sz="1400" b="1" dirty="0">
                <a:solidFill>
                  <a:srgbClr val="FFFFFF"/>
                </a:solidFill>
                <a:latin typeface="Calibri"/>
              </a:rPr>
              <a:t>ISO 27001: </a:t>
            </a:r>
            <a:r>
              <a:rPr lang="en-US" sz="1400" dirty="0">
                <a:solidFill>
                  <a:srgbClr val="CADCFC"/>
                </a:solidFill>
                <a:latin typeface="Calibri"/>
              </a:rPr>
              <a:t>Info security management</a:t>
            </a:r>
          </a:p>
          <a:p>
            <a:pPr algn="l">
              <a:buNone/>
            </a:pPr>
            <a:r>
              <a:rPr lang="en-US" sz="1400" dirty="0">
                <a:solidFill>
                  <a:srgbClr val="3A86FF"/>
                </a:solidFill>
                <a:latin typeface="Calibri"/>
              </a:rPr>
              <a:t>✔  </a:t>
            </a:r>
            <a:r>
              <a:rPr lang="en-US" sz="1400" b="1" dirty="0">
                <a:solidFill>
                  <a:srgbClr val="FFFFFF"/>
                </a:solidFill>
                <a:latin typeface="Calibri"/>
              </a:rPr>
              <a:t>NIST CSF: </a:t>
            </a:r>
            <a:r>
              <a:rPr lang="en-US" sz="1400" dirty="0">
                <a:solidFill>
                  <a:srgbClr val="CADCFC"/>
                </a:solidFill>
                <a:latin typeface="Calibri"/>
              </a:rPr>
              <a:t>Threat intelligence integration</a:t>
            </a:r>
          </a:p>
          <a:p>
            <a:pPr algn="l">
              <a:buNone/>
            </a:pPr>
            <a:r>
              <a:rPr lang="en-US" sz="1400" dirty="0">
                <a:solidFill>
                  <a:srgbClr val="3A86FF"/>
                </a:solidFill>
                <a:latin typeface="Calibri"/>
              </a:rPr>
              <a:t>✔  </a:t>
            </a:r>
            <a:r>
              <a:rPr lang="en-US" sz="1400" b="1" dirty="0">
                <a:solidFill>
                  <a:srgbClr val="FFFFFF"/>
                </a:solidFill>
                <a:latin typeface="Calibri"/>
              </a:rPr>
              <a:t>PCI-DSS: </a:t>
            </a:r>
            <a:r>
              <a:rPr lang="en-US" sz="1400" dirty="0">
                <a:solidFill>
                  <a:srgbClr val="CADCFC"/>
                </a:solidFill>
                <a:latin typeface="Calibri"/>
              </a:rPr>
              <a:t>Asset inventory compliance</a:t>
            </a:r>
          </a:p>
        </p:txBody>
      </p:sp>
      <p:sp>
        <p:nvSpPr>
          <p:cNvPr id="30" name="GovBanner"/>
          <p:cNvSpPr/>
          <p:nvPr/>
        </p:nvSpPr>
        <p:spPr>
          <a:xfrm>
            <a:off x="457200" y="4978400"/>
            <a:ext cx="8229600" cy="1422400"/>
          </a:xfrm>
          <a:prstGeom prst="roundRect">
            <a:avLst>
              <a:gd name="adj" fmla="val 4000"/>
            </a:avLst>
          </a:prstGeom>
          <a:solidFill>
            <a:srgbClr val="1A3A5C"/>
          </a:solidFill>
          <a:ln w="12700">
            <a:solidFill>
              <a:srgbClr val="3A4A7F"/>
            </a:solidFill>
          </a:ln>
        </p:spPr>
        <p:txBody>
          <a:bodyPr wrap="square" lIns="180000" rIns="144000" rtlCol="0" anchor="ctr"/>
          <a:lstStyle/>
          <a:p>
            <a:pPr algn="l">
              <a:buNone/>
            </a:pPr>
            <a:r>
              <a:rPr lang="en-US" sz="1600" b="1" dirty="0">
                <a:solidFill>
                  <a:srgbClr val="FFFFFF"/>
                </a:solidFill>
                <a:latin typeface="Calibri"/>
              </a:rPr>
              <a:t>Data Governance</a:t>
            </a:r>
          </a:p>
          <a:p>
            <a:pPr algn="l">
              <a:buNone/>
            </a:pPr>
            <a:r>
              <a:rPr lang="en-US" sz="1400" dirty="0">
                <a:solidFill>
                  <a:srgbClr val="CADCFC"/>
                </a:solidFill>
                <a:latin typeface="Calibri"/>
              </a:rPr>
              <a:t>CVE data: Public NVD sources (no PII)  |  Asset data: Internal only, 90-day retention  |  Query logs: 30-day audit trail</a:t>
            </a:r>
          </a:p>
        </p:txBody>
      </p:sp>
    </p:spTree>
    <p:extLst>
      <p:ext uri="{BB962C8B-B14F-4D97-AF65-F5344CB8AC3E}">
        <p14:creationId xmlns:p14="http://schemas.microsoft.com/office/powerpoint/2010/main" val="3976176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400" b="1" dirty="0">
                <a:solidFill>
                  <a:srgbClr val="FFFFFF"/>
                </a:solidFill>
                <a:latin typeface="Calibri"/>
              </a:rPr>
              <a:t>ENTERPRISE INTEGRATION STRATEGY</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Production Readiness</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Int0"/>
          <p:cNvSpPr/>
          <p:nvPr/>
        </p:nvSpPr>
        <p:spPr>
          <a:xfrm>
            <a:off x="457200" y="1219200"/>
            <a:ext cx="2692400" cy="2540000"/>
          </a:xfrm>
          <a:prstGeom prst="roundRect">
            <a:avLst>
              <a:gd name="adj" fmla="val 4000"/>
            </a:avLst>
          </a:prstGeom>
          <a:solidFill>
            <a:srgbClr val="0D1B3E"/>
          </a:solidFill>
          <a:ln w="12700">
            <a:solidFill>
              <a:srgbClr val="02C39A"/>
            </a:solidFill>
          </a:ln>
        </p:spPr>
        <p:txBody>
          <a:bodyPr wrap="square" lIns="144000" rIns="108000" rtlCol="0" anchor="ctr"/>
          <a:lstStyle/>
          <a:p>
            <a:pPr algn="l">
              <a:buNone/>
            </a:pPr>
            <a:r>
              <a:rPr lang="en-US" sz="1600" b="1" dirty="0">
                <a:solidFill>
                  <a:srgbClr val="FFFFFF"/>
                </a:solidFill>
                <a:latin typeface="Calibri"/>
              </a:rPr>
              <a:t>SIEM (Microsoft Sentinel/Splunk)</a:t>
            </a:r>
          </a:p>
          <a:p>
            <a:pPr algn="l">
              <a:buNone/>
            </a:pPr>
            <a:r>
              <a:rPr lang="en-US" sz="1400" b="1" dirty="0">
                <a:solidFill>
                  <a:srgbClr val="02C39A"/>
                </a:solidFill>
                <a:latin typeface="Calibri"/>
              </a:rPr>
              <a:t>Purpose</a:t>
            </a:r>
          </a:p>
          <a:p>
            <a:pPr algn="l">
              <a:buNone/>
            </a:pPr>
            <a:r>
              <a:rPr lang="en-US" sz="1400" dirty="0">
                <a:solidFill>
                  <a:srgbClr val="CADCFC"/>
                </a:solidFill>
                <a:latin typeface="Calibri"/>
              </a:rPr>
              <a:t>Real-time alert ingestion</a:t>
            </a:r>
          </a:p>
          <a:p>
            <a:pPr algn="l">
              <a:buNone/>
            </a:pPr>
            <a:r>
              <a:rPr lang="en-US" sz="1400" b="1" dirty="0">
                <a:solidFill>
                  <a:srgbClr val="02C39A"/>
                </a:solidFill>
                <a:latin typeface="Calibri"/>
              </a:rPr>
              <a:t>Method</a:t>
            </a:r>
          </a:p>
          <a:p>
            <a:pPr algn="l">
              <a:buNone/>
            </a:pPr>
            <a:r>
              <a:rPr lang="en-US" sz="1400" dirty="0">
                <a:solidFill>
                  <a:srgbClr val="CADCFC"/>
                </a:solidFill>
                <a:latin typeface="Calibri"/>
              </a:rPr>
              <a:t>REST API webhook</a:t>
            </a:r>
          </a:p>
        </p:txBody>
      </p:sp>
      <p:sp>
        <p:nvSpPr>
          <p:cNvPr id="21" name="Int1"/>
          <p:cNvSpPr/>
          <p:nvPr/>
        </p:nvSpPr>
        <p:spPr>
          <a:xfrm>
            <a:off x="3302000" y="1219200"/>
            <a:ext cx="2692400" cy="2540000"/>
          </a:xfrm>
          <a:prstGeom prst="roundRect">
            <a:avLst>
              <a:gd name="adj" fmla="val 4000"/>
            </a:avLst>
          </a:prstGeom>
          <a:solidFill>
            <a:srgbClr val="0D1B3E"/>
          </a:solidFill>
          <a:ln w="12700">
            <a:solidFill>
              <a:srgbClr val="3A86FF"/>
            </a:solidFill>
          </a:ln>
        </p:spPr>
        <p:txBody>
          <a:bodyPr wrap="square" lIns="144000" rIns="108000" rtlCol="0" anchor="ctr"/>
          <a:lstStyle/>
          <a:p>
            <a:pPr algn="l">
              <a:buNone/>
            </a:pPr>
            <a:r>
              <a:rPr lang="en-US" sz="1600" b="1" dirty="0">
                <a:solidFill>
                  <a:srgbClr val="FFFFFF"/>
                </a:solidFill>
                <a:latin typeface="Calibri"/>
              </a:rPr>
              <a:t>CMDB (ServiceNow)</a:t>
            </a:r>
          </a:p>
          <a:p>
            <a:pPr algn="l">
              <a:buNone/>
            </a:pPr>
            <a:r>
              <a:rPr lang="en-US" sz="1400" b="1" dirty="0">
                <a:solidFill>
                  <a:srgbClr val="3A86FF"/>
                </a:solidFill>
                <a:latin typeface="Calibri"/>
              </a:rPr>
              <a:t>Purpose</a:t>
            </a:r>
          </a:p>
          <a:p>
            <a:pPr algn="l">
              <a:buNone/>
            </a:pPr>
            <a:r>
              <a:rPr lang="en-US" sz="1400" dirty="0">
                <a:solidFill>
                  <a:srgbClr val="CADCFC"/>
                </a:solidFill>
                <a:latin typeface="Calibri"/>
              </a:rPr>
              <a:t>Live asset inventory sync</a:t>
            </a:r>
          </a:p>
          <a:p>
            <a:pPr algn="l">
              <a:buNone/>
            </a:pPr>
            <a:r>
              <a:rPr lang="en-US" sz="1400" b="1" dirty="0">
                <a:solidFill>
                  <a:srgbClr val="3A86FF"/>
                </a:solidFill>
                <a:latin typeface="Calibri"/>
              </a:rPr>
              <a:t>Method</a:t>
            </a:r>
          </a:p>
          <a:p>
            <a:pPr algn="l">
              <a:buNone/>
            </a:pPr>
            <a:r>
              <a:rPr lang="en-US" sz="1400" dirty="0">
                <a:solidFill>
                  <a:srgbClr val="CADCFC"/>
                </a:solidFill>
                <a:latin typeface="Calibri"/>
              </a:rPr>
              <a:t>Daily ETL pipeline</a:t>
            </a:r>
          </a:p>
        </p:txBody>
      </p:sp>
      <p:sp>
        <p:nvSpPr>
          <p:cNvPr id="22" name="Int2"/>
          <p:cNvSpPr/>
          <p:nvPr/>
        </p:nvSpPr>
        <p:spPr>
          <a:xfrm>
            <a:off x="6146800" y="1219200"/>
            <a:ext cx="2692400" cy="2540000"/>
          </a:xfrm>
          <a:prstGeom prst="roundRect">
            <a:avLst>
              <a:gd name="adj" fmla="val 4000"/>
            </a:avLst>
          </a:prstGeom>
          <a:solidFill>
            <a:srgbClr val="0D1B3E"/>
          </a:solidFill>
          <a:ln w="12700">
            <a:solidFill>
              <a:srgbClr val="FF6B35"/>
            </a:solidFill>
          </a:ln>
        </p:spPr>
        <p:txBody>
          <a:bodyPr wrap="square" lIns="144000" rIns="108000" rtlCol="0" anchor="ctr"/>
          <a:lstStyle/>
          <a:p>
            <a:pPr algn="l">
              <a:buNone/>
            </a:pPr>
            <a:r>
              <a:rPr lang="en-US" sz="1600" b="1" dirty="0">
                <a:solidFill>
                  <a:srgbClr val="FFFFFF"/>
                </a:solidFill>
                <a:latin typeface="Calibri"/>
              </a:rPr>
              <a:t>Ticketing (Jira/ServiceNow)</a:t>
            </a:r>
          </a:p>
          <a:p>
            <a:pPr algn="l">
              <a:buNone/>
            </a:pPr>
            <a:r>
              <a:rPr lang="en-US" sz="1400" b="1" dirty="0">
                <a:solidFill>
                  <a:srgbClr val="FF6B35"/>
                </a:solidFill>
                <a:latin typeface="Calibri"/>
              </a:rPr>
              <a:t>Purpose</a:t>
            </a:r>
          </a:p>
          <a:p>
            <a:pPr algn="l">
              <a:buNone/>
            </a:pPr>
            <a:r>
              <a:rPr lang="en-US" sz="1400" dirty="0">
                <a:solidFill>
                  <a:srgbClr val="CADCFC"/>
                </a:solidFill>
                <a:latin typeface="Calibri"/>
              </a:rPr>
              <a:t>Auto-create patching tickets</a:t>
            </a:r>
          </a:p>
          <a:p>
            <a:pPr algn="l">
              <a:buNone/>
            </a:pPr>
            <a:r>
              <a:rPr lang="en-US" sz="1400" b="1" dirty="0">
                <a:solidFill>
                  <a:srgbClr val="FF6B35"/>
                </a:solidFill>
                <a:latin typeface="Calibri"/>
              </a:rPr>
              <a:t>Method</a:t>
            </a:r>
          </a:p>
          <a:p>
            <a:pPr algn="l">
              <a:buNone/>
            </a:pPr>
            <a:r>
              <a:rPr lang="en-US" sz="1400" dirty="0">
                <a:solidFill>
                  <a:srgbClr val="CADCFC"/>
                </a:solidFill>
                <a:latin typeface="Calibri"/>
              </a:rPr>
              <a:t>Jira Cloud API</a:t>
            </a:r>
          </a:p>
        </p:txBody>
      </p:sp>
      <p:sp>
        <p:nvSpPr>
          <p:cNvPr id="23" name="Int3"/>
          <p:cNvSpPr/>
          <p:nvPr/>
        </p:nvSpPr>
        <p:spPr>
          <a:xfrm>
            <a:off x="457200" y="3937000"/>
            <a:ext cx="2692400" cy="2540000"/>
          </a:xfrm>
          <a:prstGeom prst="roundRect">
            <a:avLst>
              <a:gd name="adj" fmla="val 4000"/>
            </a:avLst>
          </a:prstGeom>
          <a:solidFill>
            <a:srgbClr val="0D1B3E"/>
          </a:solidFill>
          <a:ln w="12700">
            <a:solidFill>
              <a:srgbClr val="E63946"/>
            </a:solidFill>
          </a:ln>
        </p:spPr>
        <p:txBody>
          <a:bodyPr wrap="square" lIns="144000" rIns="108000" rtlCol="0" anchor="ctr"/>
          <a:lstStyle/>
          <a:p>
            <a:pPr algn="l">
              <a:buNone/>
            </a:pPr>
            <a:r>
              <a:rPr lang="en-US" sz="1600" b="1" dirty="0">
                <a:solidFill>
                  <a:srgbClr val="FFFFFF"/>
                </a:solidFill>
                <a:latin typeface="Calibri"/>
              </a:rPr>
              <a:t>Teams/Slack</a:t>
            </a:r>
          </a:p>
          <a:p>
            <a:pPr algn="l">
              <a:buNone/>
            </a:pPr>
            <a:r>
              <a:rPr lang="en-US" sz="1400" b="1" dirty="0">
                <a:solidFill>
                  <a:srgbClr val="E63946"/>
                </a:solidFill>
                <a:latin typeface="Calibri"/>
              </a:rPr>
              <a:t>Purpose</a:t>
            </a:r>
          </a:p>
          <a:p>
            <a:pPr algn="l">
              <a:buNone/>
            </a:pPr>
            <a:r>
              <a:rPr lang="en-US" sz="1400" dirty="0">
                <a:solidFill>
                  <a:srgbClr val="CADCFC"/>
                </a:solidFill>
                <a:latin typeface="Calibri"/>
              </a:rPr>
              <a:t>Alert notifications</a:t>
            </a:r>
          </a:p>
          <a:p>
            <a:pPr algn="l">
              <a:buNone/>
            </a:pPr>
            <a:r>
              <a:rPr lang="en-US" sz="1400" b="1" dirty="0">
                <a:solidFill>
                  <a:srgbClr val="E63946"/>
                </a:solidFill>
                <a:latin typeface="Calibri"/>
              </a:rPr>
              <a:t>Method</a:t>
            </a:r>
          </a:p>
          <a:p>
            <a:pPr algn="l">
              <a:buNone/>
            </a:pPr>
            <a:r>
              <a:rPr lang="en-US" sz="1400" dirty="0">
                <a:solidFill>
                  <a:srgbClr val="CADCFC"/>
                </a:solidFill>
                <a:latin typeface="Calibri"/>
              </a:rPr>
              <a:t>Bot integration</a:t>
            </a:r>
          </a:p>
        </p:txBody>
      </p:sp>
      <p:sp>
        <p:nvSpPr>
          <p:cNvPr id="24" name="Int4"/>
          <p:cNvSpPr/>
          <p:nvPr/>
        </p:nvSpPr>
        <p:spPr>
          <a:xfrm>
            <a:off x="3302000" y="3937000"/>
            <a:ext cx="2692400" cy="2540000"/>
          </a:xfrm>
          <a:prstGeom prst="roundRect">
            <a:avLst>
              <a:gd name="adj" fmla="val 4000"/>
            </a:avLst>
          </a:prstGeom>
          <a:solidFill>
            <a:srgbClr val="0D1B3E"/>
          </a:solidFill>
          <a:ln w="12700">
            <a:solidFill>
              <a:srgbClr val="9B59B6"/>
            </a:solidFill>
          </a:ln>
        </p:spPr>
        <p:txBody>
          <a:bodyPr wrap="square" lIns="144000" rIns="108000" rtlCol="0" anchor="ctr"/>
          <a:lstStyle/>
          <a:p>
            <a:pPr algn="l">
              <a:buNone/>
            </a:pPr>
            <a:r>
              <a:rPr lang="en-US" sz="1600" b="1" dirty="0">
                <a:solidFill>
                  <a:srgbClr val="FFFFFF"/>
                </a:solidFill>
                <a:latin typeface="Calibri"/>
              </a:rPr>
              <a:t>Vulnerability Scanner</a:t>
            </a:r>
          </a:p>
          <a:p>
            <a:pPr algn="l">
              <a:buNone/>
            </a:pPr>
            <a:r>
              <a:rPr lang="en-US" sz="1400" b="1" dirty="0">
                <a:solidFill>
                  <a:srgbClr val="9B59B6"/>
                </a:solidFill>
                <a:latin typeface="Calibri"/>
              </a:rPr>
              <a:t>Purpose</a:t>
            </a:r>
          </a:p>
          <a:p>
            <a:pPr algn="l">
              <a:buNone/>
            </a:pPr>
            <a:r>
              <a:rPr lang="en-US" sz="1400" dirty="0">
                <a:solidFill>
                  <a:srgbClr val="CADCFC"/>
                </a:solidFill>
                <a:latin typeface="Calibri"/>
              </a:rPr>
              <a:t>Scan result correlation</a:t>
            </a:r>
          </a:p>
          <a:p>
            <a:pPr algn="l">
              <a:buNone/>
            </a:pPr>
            <a:r>
              <a:rPr lang="en-US" sz="1400" b="1" dirty="0">
                <a:solidFill>
                  <a:srgbClr val="9B59B6"/>
                </a:solidFill>
                <a:latin typeface="Calibri"/>
              </a:rPr>
              <a:t>Method</a:t>
            </a:r>
          </a:p>
          <a:p>
            <a:pPr algn="l">
              <a:buNone/>
            </a:pPr>
            <a:r>
              <a:rPr lang="en-US" sz="1400" dirty="0">
                <a:solidFill>
                  <a:srgbClr val="CADCFC"/>
                </a:solidFill>
                <a:latin typeface="Calibri"/>
              </a:rPr>
              <a:t>API import + vectorization</a:t>
            </a:r>
          </a:p>
        </p:txBody>
      </p:sp>
      <p:sp>
        <p:nvSpPr>
          <p:cNvPr id="25" name="Int5"/>
          <p:cNvSpPr/>
          <p:nvPr/>
        </p:nvSpPr>
        <p:spPr>
          <a:xfrm>
            <a:off x="6146800" y="3937000"/>
            <a:ext cx="2692400" cy="2540000"/>
          </a:xfrm>
          <a:prstGeom prst="roundRect">
            <a:avLst>
              <a:gd name="adj" fmla="val 4000"/>
            </a:avLst>
          </a:prstGeom>
          <a:solidFill>
            <a:srgbClr val="0D1B3E"/>
          </a:solidFill>
          <a:ln w="12700">
            <a:solidFill>
              <a:srgbClr val="02C39A"/>
            </a:solidFill>
          </a:ln>
        </p:spPr>
        <p:txBody>
          <a:bodyPr wrap="square" lIns="144000" rIns="108000" rtlCol="0" anchor="ctr"/>
          <a:lstStyle/>
          <a:p>
            <a:pPr algn="l">
              <a:buNone/>
            </a:pPr>
            <a:r>
              <a:rPr lang="en-US" sz="1600" b="1" dirty="0">
                <a:solidFill>
                  <a:srgbClr val="FFFFFF"/>
                </a:solidFill>
                <a:latin typeface="Calibri"/>
              </a:rPr>
              <a:t>SSO (Microsoft Entra ID)</a:t>
            </a:r>
          </a:p>
          <a:p>
            <a:pPr algn="l">
              <a:buNone/>
            </a:pPr>
            <a:r>
              <a:rPr lang="en-US" sz="1400" b="1" dirty="0">
                <a:solidFill>
                  <a:srgbClr val="02C39A"/>
                </a:solidFill>
                <a:latin typeface="Calibri"/>
              </a:rPr>
              <a:t>Purpose</a:t>
            </a:r>
          </a:p>
          <a:p>
            <a:pPr algn="l">
              <a:buNone/>
            </a:pPr>
            <a:r>
              <a:rPr lang="en-US" sz="1400" dirty="0">
                <a:solidFill>
                  <a:srgbClr val="CADCFC"/>
                </a:solidFill>
                <a:latin typeface="Calibri"/>
              </a:rPr>
              <a:t>User authentication</a:t>
            </a:r>
          </a:p>
          <a:p>
            <a:pPr algn="l">
              <a:buNone/>
            </a:pPr>
            <a:r>
              <a:rPr lang="en-US" sz="1400" b="1" dirty="0">
                <a:solidFill>
                  <a:srgbClr val="02C39A"/>
                </a:solidFill>
                <a:latin typeface="Calibri"/>
              </a:rPr>
              <a:t>Method</a:t>
            </a:r>
          </a:p>
          <a:p>
            <a:pPr algn="l">
              <a:buNone/>
            </a:pPr>
            <a:r>
              <a:rPr lang="en-US" sz="1400" dirty="0">
                <a:solidFill>
                  <a:srgbClr val="CADCFC"/>
                </a:solidFill>
                <a:latin typeface="Calibri"/>
              </a:rPr>
              <a:t>SAML 2.0 / OIDC</a:t>
            </a:r>
          </a:p>
        </p:txBody>
      </p:sp>
    </p:spTree>
    <p:extLst>
      <p:ext uri="{BB962C8B-B14F-4D97-AF65-F5344CB8AC3E}">
        <p14:creationId xmlns:p14="http://schemas.microsoft.com/office/powerpoint/2010/main" val="4148328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KEY LESSONS LEARNED</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Conclusion</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LC1"/>
          <p:cNvSpPr/>
          <p:nvPr/>
        </p:nvSpPr>
        <p:spPr>
          <a:xfrm>
            <a:off x="457200" y="1219200"/>
            <a:ext cx="4038600" cy="2540000"/>
          </a:xfrm>
          <a:prstGeom prst="roundRect">
            <a:avLst>
              <a:gd name="adj" fmla="val 3000"/>
            </a:avLst>
          </a:prstGeom>
          <a:solidFill>
            <a:srgbClr val="0D1B3E"/>
          </a:solidFill>
          <a:ln>
            <a:noFill/>
          </a:ln>
        </p:spPr>
        <p:txBody>
          <a:bodyPr/>
          <a:lstStyle/>
          <a:p>
            <a:endParaRPr lang="en-US"/>
          </a:p>
        </p:txBody>
      </p:sp>
      <p:sp>
        <p:nvSpPr>
          <p:cNvPr id="30" name="N1"/>
          <p:cNvSpPr/>
          <p:nvPr/>
        </p:nvSpPr>
        <p:spPr>
          <a:xfrm>
            <a:off x="635000" y="1397000"/>
            <a:ext cx="508000" cy="508000"/>
          </a:xfrm>
          <a:prstGeom prst="ellipse">
            <a:avLst/>
          </a:prstGeom>
          <a:solidFill>
            <a:srgbClr val="02C39A"/>
          </a:solidFill>
          <a:ln>
            <a:noFill/>
          </a:ln>
        </p:spPr>
        <p:txBody>
          <a:bodyPr wrap="none" lIns="0" tIns="0" rIns="0" bIns="0" rtlCol="0" anchor="ctr"/>
          <a:lstStyle/>
          <a:p>
            <a:pPr algn="ctr">
              <a:buNone/>
            </a:pPr>
            <a:r>
              <a:rPr lang="en-US" sz="2000" b="1" dirty="0">
                <a:solidFill>
                  <a:srgbClr val="FFFFFF"/>
                </a:solidFill>
                <a:latin typeface="Calibri"/>
              </a:rPr>
              <a:t>1</a:t>
            </a:r>
          </a:p>
        </p:txBody>
      </p:sp>
      <p:sp>
        <p:nvSpPr>
          <p:cNvPr id="40" name="LT1"/>
          <p:cNvSpPr txBox="1"/>
          <p:nvPr/>
        </p:nvSpPr>
        <p:spPr>
          <a:xfrm>
            <a:off x="1270000" y="1397000"/>
            <a:ext cx="3048000" cy="2159000"/>
          </a:xfrm>
          <a:prstGeom prst="rect">
            <a:avLst/>
          </a:prstGeom>
          <a:noFill/>
        </p:spPr>
        <p:txBody>
          <a:bodyPr wrap="square" rtlCol="0" anchor="t"/>
          <a:lstStyle/>
          <a:p>
            <a:pPr algn="l">
              <a:buNone/>
            </a:pPr>
            <a:r>
              <a:rPr lang="en-US" sz="1600" b="1" dirty="0">
                <a:solidFill>
                  <a:srgbClr val="02C39A"/>
                </a:solidFill>
                <a:latin typeface="Calibri"/>
              </a:rPr>
              <a:t>Data Format Matters</a:t>
            </a:r>
          </a:p>
          <a:p>
            <a:pPr algn="l">
              <a:buNone/>
            </a:pPr>
            <a:r>
              <a:rPr lang="en-US" sz="1400" dirty="0">
                <a:solidFill>
                  <a:srgbClr val="CADCFC"/>
                </a:solidFill>
                <a:latin typeface="Calibri"/>
              </a:rPr>
              <a:t>Text embeddings outperform structured JSON for semantic search. Natural language descriptions retrieve better than schema-constrained data.</a:t>
            </a:r>
          </a:p>
        </p:txBody>
      </p:sp>
      <p:sp>
        <p:nvSpPr>
          <p:cNvPr id="21" name="LC2"/>
          <p:cNvSpPr/>
          <p:nvPr/>
        </p:nvSpPr>
        <p:spPr>
          <a:xfrm>
            <a:off x="4648200" y="1219200"/>
            <a:ext cx="4038600" cy="2540000"/>
          </a:xfrm>
          <a:prstGeom prst="roundRect">
            <a:avLst>
              <a:gd name="adj" fmla="val 3000"/>
            </a:avLst>
          </a:prstGeom>
          <a:solidFill>
            <a:srgbClr val="0D1B3E"/>
          </a:solidFill>
          <a:ln>
            <a:noFill/>
          </a:ln>
        </p:spPr>
        <p:txBody>
          <a:bodyPr/>
          <a:lstStyle/>
          <a:p>
            <a:endParaRPr lang="en-US"/>
          </a:p>
        </p:txBody>
      </p:sp>
      <p:sp>
        <p:nvSpPr>
          <p:cNvPr id="31" name="N2"/>
          <p:cNvSpPr/>
          <p:nvPr/>
        </p:nvSpPr>
        <p:spPr>
          <a:xfrm>
            <a:off x="4826000" y="1397000"/>
            <a:ext cx="508000" cy="508000"/>
          </a:xfrm>
          <a:prstGeom prst="ellipse">
            <a:avLst/>
          </a:prstGeom>
          <a:solidFill>
            <a:srgbClr val="3A86FF"/>
          </a:solidFill>
          <a:ln>
            <a:noFill/>
          </a:ln>
        </p:spPr>
        <p:txBody>
          <a:bodyPr wrap="none" lIns="0" tIns="0" rIns="0" bIns="0" rtlCol="0" anchor="ctr"/>
          <a:lstStyle/>
          <a:p>
            <a:pPr algn="ctr">
              <a:buNone/>
            </a:pPr>
            <a:r>
              <a:rPr lang="en-US" sz="2000" b="1" dirty="0">
                <a:solidFill>
                  <a:srgbClr val="FFFFFF"/>
                </a:solidFill>
                <a:latin typeface="Calibri"/>
              </a:rPr>
              <a:t>2</a:t>
            </a:r>
          </a:p>
        </p:txBody>
      </p:sp>
      <p:sp>
        <p:nvSpPr>
          <p:cNvPr id="41" name="LT2"/>
          <p:cNvSpPr txBox="1"/>
          <p:nvPr/>
        </p:nvSpPr>
        <p:spPr>
          <a:xfrm>
            <a:off x="5461000" y="1397000"/>
            <a:ext cx="3048000" cy="2159000"/>
          </a:xfrm>
          <a:prstGeom prst="rect">
            <a:avLst/>
          </a:prstGeom>
          <a:noFill/>
        </p:spPr>
        <p:txBody>
          <a:bodyPr wrap="square" rtlCol="0" anchor="t"/>
          <a:lstStyle/>
          <a:p>
            <a:pPr algn="l">
              <a:buNone/>
            </a:pPr>
            <a:r>
              <a:rPr lang="en-US" sz="1600" b="1" dirty="0">
                <a:solidFill>
                  <a:srgbClr val="3A86FF"/>
                </a:solidFill>
                <a:latin typeface="Calibri"/>
              </a:rPr>
              <a:t>Agent Specialization Wins</a:t>
            </a:r>
          </a:p>
          <a:p>
            <a:pPr algn="l">
              <a:buNone/>
            </a:pPr>
            <a:r>
              <a:rPr lang="en-US" sz="1400" dirty="0">
                <a:solidFill>
                  <a:srgbClr val="CADCFC"/>
                </a:solidFill>
                <a:latin typeface="Calibri"/>
              </a:rPr>
              <a:t>Multiple focused agents (CVE, Asset, Risk) outperform monolithic systems in accuracy and maintainability.</a:t>
            </a:r>
          </a:p>
        </p:txBody>
      </p:sp>
      <p:sp>
        <p:nvSpPr>
          <p:cNvPr id="22" name="LC3"/>
          <p:cNvSpPr/>
          <p:nvPr/>
        </p:nvSpPr>
        <p:spPr>
          <a:xfrm>
            <a:off x="457200" y="3937000"/>
            <a:ext cx="4038600" cy="2540000"/>
          </a:xfrm>
          <a:prstGeom prst="roundRect">
            <a:avLst>
              <a:gd name="adj" fmla="val 3000"/>
            </a:avLst>
          </a:prstGeom>
          <a:solidFill>
            <a:srgbClr val="0D1B3E"/>
          </a:solidFill>
          <a:ln>
            <a:noFill/>
          </a:ln>
        </p:spPr>
        <p:txBody>
          <a:bodyPr/>
          <a:lstStyle/>
          <a:p>
            <a:endParaRPr lang="en-US"/>
          </a:p>
        </p:txBody>
      </p:sp>
      <p:sp>
        <p:nvSpPr>
          <p:cNvPr id="32" name="N3"/>
          <p:cNvSpPr/>
          <p:nvPr/>
        </p:nvSpPr>
        <p:spPr>
          <a:xfrm>
            <a:off x="635000" y="4114800"/>
            <a:ext cx="508000" cy="508000"/>
          </a:xfrm>
          <a:prstGeom prst="ellipse">
            <a:avLst/>
          </a:prstGeom>
          <a:solidFill>
            <a:srgbClr val="FF6B35"/>
          </a:solidFill>
          <a:ln>
            <a:noFill/>
          </a:ln>
        </p:spPr>
        <p:txBody>
          <a:bodyPr wrap="none" lIns="0" tIns="0" rIns="0" bIns="0" rtlCol="0" anchor="ctr"/>
          <a:lstStyle/>
          <a:p>
            <a:pPr algn="ctr">
              <a:buNone/>
            </a:pPr>
            <a:r>
              <a:rPr lang="en-US" sz="2000" b="1" dirty="0">
                <a:solidFill>
                  <a:srgbClr val="FFFFFF"/>
                </a:solidFill>
                <a:latin typeface="Calibri"/>
              </a:rPr>
              <a:t>3</a:t>
            </a:r>
          </a:p>
        </p:txBody>
      </p:sp>
      <p:sp>
        <p:nvSpPr>
          <p:cNvPr id="42" name="LT3"/>
          <p:cNvSpPr txBox="1"/>
          <p:nvPr/>
        </p:nvSpPr>
        <p:spPr>
          <a:xfrm>
            <a:off x="1270000" y="4114800"/>
            <a:ext cx="3048000" cy="2159000"/>
          </a:xfrm>
          <a:prstGeom prst="rect">
            <a:avLst/>
          </a:prstGeom>
          <a:noFill/>
        </p:spPr>
        <p:txBody>
          <a:bodyPr wrap="square" rtlCol="0" anchor="t"/>
          <a:lstStyle/>
          <a:p>
            <a:pPr algn="l">
              <a:buNone/>
            </a:pPr>
            <a:r>
              <a:rPr lang="en-US" sz="1600" b="1" dirty="0">
                <a:solidFill>
                  <a:srgbClr val="FF6B35"/>
                </a:solidFill>
                <a:latin typeface="Calibri"/>
              </a:rPr>
              <a:t>Iterate on Prompts Relentlessly</a:t>
            </a:r>
          </a:p>
          <a:p>
            <a:pPr algn="l">
              <a:buNone/>
            </a:pPr>
            <a:r>
              <a:rPr lang="en-US" sz="1400" dirty="0">
                <a:solidFill>
                  <a:srgbClr val="CADCFC"/>
                </a:solidFill>
                <a:latin typeface="Calibri"/>
              </a:rPr>
              <a:t>Agent prompts require 5-10 iterations with real test cases. Version filtering and grounding constraints are critical.</a:t>
            </a:r>
          </a:p>
        </p:txBody>
      </p:sp>
      <p:sp>
        <p:nvSpPr>
          <p:cNvPr id="23" name="LC4"/>
          <p:cNvSpPr/>
          <p:nvPr/>
        </p:nvSpPr>
        <p:spPr>
          <a:xfrm>
            <a:off x="4648200" y="3937000"/>
            <a:ext cx="4038600" cy="2540000"/>
          </a:xfrm>
          <a:prstGeom prst="roundRect">
            <a:avLst>
              <a:gd name="adj" fmla="val 3000"/>
            </a:avLst>
          </a:prstGeom>
          <a:solidFill>
            <a:srgbClr val="0D1B3E"/>
          </a:solidFill>
          <a:ln>
            <a:noFill/>
          </a:ln>
        </p:spPr>
        <p:txBody>
          <a:bodyPr/>
          <a:lstStyle/>
          <a:p>
            <a:endParaRPr lang="en-US"/>
          </a:p>
        </p:txBody>
      </p:sp>
      <p:sp>
        <p:nvSpPr>
          <p:cNvPr id="33" name="N4"/>
          <p:cNvSpPr/>
          <p:nvPr/>
        </p:nvSpPr>
        <p:spPr>
          <a:xfrm>
            <a:off x="4826000" y="4114800"/>
            <a:ext cx="508000" cy="508000"/>
          </a:xfrm>
          <a:prstGeom prst="ellipse">
            <a:avLst/>
          </a:prstGeom>
          <a:solidFill>
            <a:srgbClr val="E63946"/>
          </a:solidFill>
          <a:ln>
            <a:noFill/>
          </a:ln>
        </p:spPr>
        <p:txBody>
          <a:bodyPr wrap="none" lIns="0" tIns="0" rIns="0" bIns="0" rtlCol="0" anchor="ctr"/>
          <a:lstStyle/>
          <a:p>
            <a:pPr algn="ctr">
              <a:buNone/>
            </a:pPr>
            <a:r>
              <a:rPr lang="en-US" sz="2000" b="1" dirty="0">
                <a:solidFill>
                  <a:srgbClr val="FFFFFF"/>
                </a:solidFill>
                <a:latin typeface="Calibri"/>
              </a:rPr>
              <a:t>4</a:t>
            </a:r>
          </a:p>
        </p:txBody>
      </p:sp>
      <p:sp>
        <p:nvSpPr>
          <p:cNvPr id="43" name="LT4"/>
          <p:cNvSpPr txBox="1"/>
          <p:nvPr/>
        </p:nvSpPr>
        <p:spPr>
          <a:xfrm>
            <a:off x="5461000" y="4114800"/>
            <a:ext cx="3048000" cy="2159000"/>
          </a:xfrm>
          <a:prstGeom prst="rect">
            <a:avLst/>
          </a:prstGeom>
          <a:noFill/>
        </p:spPr>
        <p:txBody>
          <a:bodyPr wrap="square" rtlCol="0" anchor="t"/>
          <a:lstStyle/>
          <a:p>
            <a:pPr algn="l">
              <a:buNone/>
            </a:pPr>
            <a:r>
              <a:rPr lang="en-US" sz="1600" b="1" dirty="0">
                <a:solidFill>
                  <a:srgbClr val="E63946"/>
                </a:solidFill>
                <a:latin typeface="Calibri"/>
              </a:rPr>
              <a:t>RAI is Non-Negotiable</a:t>
            </a:r>
          </a:p>
          <a:p>
            <a:pPr algn="l">
              <a:buNone/>
            </a:pPr>
            <a:r>
              <a:rPr lang="en-US" sz="1400" dirty="0">
                <a:solidFill>
                  <a:srgbClr val="CADCFC"/>
                </a:solidFill>
                <a:latin typeface="Calibri"/>
              </a:rPr>
              <a:t>Scope validation isn't optional. Malicious query blocking must be tested with adversarial examples.</a:t>
            </a:r>
          </a:p>
        </p:txBody>
      </p:sp>
    </p:spTree>
    <p:extLst>
      <p:ext uri="{BB962C8B-B14F-4D97-AF65-F5344CB8AC3E}">
        <p14:creationId xmlns:p14="http://schemas.microsoft.com/office/powerpoint/2010/main" val="2734556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600" b="1" dirty="0">
                <a:solidFill>
                  <a:srgbClr val="FFFFFF"/>
                </a:solidFill>
                <a:latin typeface="Calibri"/>
              </a:rPr>
              <a:t>IMPACT SUMMARY &amp; CONCLUSION</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Conclusion</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Metric0"/>
          <p:cNvSpPr/>
          <p:nvPr/>
        </p:nvSpPr>
        <p:spPr>
          <a:xfrm>
            <a:off x="457200" y="1346200"/>
            <a:ext cx="1981200" cy="2540000"/>
          </a:xfrm>
          <a:prstGeom prst="roundRect">
            <a:avLst>
              <a:gd name="adj" fmla="val 5000"/>
            </a:avLst>
          </a:prstGeom>
          <a:solidFill>
            <a:srgbClr val="0D1B3E"/>
          </a:solidFill>
          <a:ln w="19050">
            <a:solidFill>
              <a:srgbClr val="02C39A"/>
            </a:solidFill>
          </a:ln>
        </p:spPr>
        <p:txBody>
          <a:bodyPr wrap="square" lIns="36000" rIns="36000" rtlCol="0" anchor="ctr"/>
          <a:lstStyle/>
          <a:p>
            <a:pPr algn="ctr">
              <a:buNone/>
            </a:pPr>
            <a:r>
              <a:rPr lang="en-US" sz="2800" b="1" dirty="0">
                <a:solidFill>
                  <a:srgbClr val="02C39A"/>
                </a:solidFill>
                <a:latin typeface="Calibri"/>
              </a:rPr>
              <a:t>24-48h</a:t>
            </a:r>
          </a:p>
          <a:p>
            <a:pPr algn="ctr">
              <a:buNone/>
            </a:pPr>
            <a:r>
              <a:rPr lang="en-US" sz="2000" b="1" dirty="0">
                <a:solidFill>
                  <a:srgbClr val="FFFFFF"/>
                </a:solidFill>
                <a:latin typeface="Calibri"/>
              </a:rPr>
              <a:t>→ 10 min</a:t>
            </a:r>
          </a:p>
          <a:p>
            <a:pPr algn="ctr">
              <a:buNone/>
            </a:pPr>
            <a:r>
              <a:rPr lang="en-US" sz="1400" dirty="0">
                <a:solidFill>
                  <a:srgbClr val="CADCFC"/>
                </a:solidFill>
                <a:latin typeface="Calibri"/>
              </a:rPr>
              <a:t>Response Time</a:t>
            </a:r>
          </a:p>
        </p:txBody>
      </p:sp>
      <p:sp>
        <p:nvSpPr>
          <p:cNvPr id="21" name="Metric1"/>
          <p:cNvSpPr/>
          <p:nvPr/>
        </p:nvSpPr>
        <p:spPr>
          <a:xfrm>
            <a:off x="2590800" y="1346200"/>
            <a:ext cx="1981200" cy="2540000"/>
          </a:xfrm>
          <a:prstGeom prst="roundRect">
            <a:avLst>
              <a:gd name="adj" fmla="val 5000"/>
            </a:avLst>
          </a:prstGeom>
          <a:solidFill>
            <a:srgbClr val="0D1B3E"/>
          </a:solidFill>
          <a:ln w="19050">
            <a:solidFill>
              <a:srgbClr val="3A86FF"/>
            </a:solidFill>
          </a:ln>
        </p:spPr>
        <p:txBody>
          <a:bodyPr wrap="square" lIns="36000" rIns="36000" rtlCol="0" anchor="ctr"/>
          <a:lstStyle/>
          <a:p>
            <a:pPr algn="ctr">
              <a:buNone/>
            </a:pPr>
            <a:r>
              <a:rPr lang="en-US" sz="2800" b="1" dirty="0">
                <a:solidFill>
                  <a:srgbClr val="3A86FF"/>
                </a:solidFill>
                <a:latin typeface="Calibri"/>
              </a:rPr>
              <a:t>214%</a:t>
            </a:r>
          </a:p>
          <a:p>
            <a:pPr algn="ctr">
              <a:buNone/>
            </a:pPr>
            <a:r>
              <a:rPr lang="en-US" sz="2000" b="1" dirty="0">
                <a:solidFill>
                  <a:srgbClr val="FFFFFF"/>
                </a:solidFill>
                <a:latin typeface="Calibri"/>
              </a:rPr>
              <a:t>ROI</a:t>
            </a:r>
          </a:p>
          <a:p>
            <a:pPr algn="ctr">
              <a:buNone/>
            </a:pPr>
            <a:r>
              <a:rPr lang="en-US" sz="1400" dirty="0">
                <a:solidFill>
                  <a:srgbClr val="CADCFC"/>
                </a:solidFill>
                <a:latin typeface="Calibri"/>
              </a:rPr>
              <a:t>Return on Investment</a:t>
            </a:r>
          </a:p>
        </p:txBody>
      </p:sp>
      <p:sp>
        <p:nvSpPr>
          <p:cNvPr id="22" name="Metric2"/>
          <p:cNvSpPr/>
          <p:nvPr/>
        </p:nvSpPr>
        <p:spPr>
          <a:xfrm>
            <a:off x="4724400" y="1346200"/>
            <a:ext cx="1981200" cy="2540000"/>
          </a:xfrm>
          <a:prstGeom prst="roundRect">
            <a:avLst>
              <a:gd name="adj" fmla="val 5000"/>
            </a:avLst>
          </a:prstGeom>
          <a:solidFill>
            <a:srgbClr val="0D1B3E"/>
          </a:solidFill>
          <a:ln w="19050">
            <a:solidFill>
              <a:srgbClr val="FF6B35"/>
            </a:solidFill>
          </a:ln>
        </p:spPr>
        <p:txBody>
          <a:bodyPr wrap="square" lIns="36000" rIns="36000" rtlCol="0" anchor="ctr"/>
          <a:lstStyle/>
          <a:p>
            <a:pPr algn="ctr">
              <a:buNone/>
            </a:pPr>
            <a:r>
              <a:rPr lang="en-US" sz="2800" b="1" dirty="0">
                <a:solidFill>
                  <a:srgbClr val="FF6B35"/>
                </a:solidFill>
                <a:latin typeface="Calibri"/>
              </a:rPr>
              <a:t>60%</a:t>
            </a:r>
          </a:p>
          <a:p>
            <a:pPr algn="ctr">
              <a:buNone/>
            </a:pPr>
            <a:r>
              <a:rPr lang="en-US" sz="2000" b="1" dirty="0">
                <a:solidFill>
                  <a:srgbClr val="FFFFFF"/>
                </a:solidFill>
                <a:latin typeface="Calibri"/>
              </a:rPr>
              <a:t>Time Freed</a:t>
            </a:r>
          </a:p>
          <a:p>
            <a:pPr algn="ctr">
              <a:buNone/>
            </a:pPr>
            <a:r>
              <a:rPr lang="en-US" sz="1400" dirty="0">
                <a:solidFill>
                  <a:srgbClr val="CADCFC"/>
                </a:solidFill>
                <a:latin typeface="Calibri"/>
              </a:rPr>
              <a:t>Analyst Productivity</a:t>
            </a:r>
          </a:p>
        </p:txBody>
      </p:sp>
      <p:sp>
        <p:nvSpPr>
          <p:cNvPr id="23" name="Metric3"/>
          <p:cNvSpPr/>
          <p:nvPr/>
        </p:nvSpPr>
        <p:spPr>
          <a:xfrm>
            <a:off x="6858000" y="1346200"/>
            <a:ext cx="1981200" cy="2540000"/>
          </a:xfrm>
          <a:prstGeom prst="roundRect">
            <a:avLst>
              <a:gd name="adj" fmla="val 5000"/>
            </a:avLst>
          </a:prstGeom>
          <a:solidFill>
            <a:srgbClr val="0D1B3E"/>
          </a:solidFill>
          <a:ln w="19050">
            <a:solidFill>
              <a:srgbClr val="E63946"/>
            </a:solidFill>
          </a:ln>
        </p:spPr>
        <p:txBody>
          <a:bodyPr wrap="square" lIns="36000" rIns="36000" rtlCol="0" anchor="ctr"/>
          <a:lstStyle/>
          <a:p>
            <a:pPr algn="ctr">
              <a:buNone/>
            </a:pPr>
            <a:r>
              <a:rPr lang="en-US" sz="2800" b="1" dirty="0">
                <a:solidFill>
                  <a:srgbClr val="E63946"/>
                </a:solidFill>
                <a:latin typeface="Calibri"/>
              </a:rPr>
              <a:t>80%</a:t>
            </a:r>
          </a:p>
          <a:p>
            <a:pPr algn="ctr">
              <a:buNone/>
            </a:pPr>
            <a:r>
              <a:rPr lang="en-US" sz="2000" b="1" dirty="0">
                <a:solidFill>
                  <a:srgbClr val="FFFFFF"/>
                </a:solidFill>
                <a:latin typeface="Calibri"/>
              </a:rPr>
              <a:t>Accuracy</a:t>
            </a:r>
          </a:p>
          <a:p>
            <a:pPr algn="ctr">
              <a:buNone/>
            </a:pPr>
            <a:r>
              <a:rPr lang="en-US" sz="1400" dirty="0">
                <a:solidFill>
                  <a:srgbClr val="CADCFC"/>
                </a:solidFill>
                <a:latin typeface="Calibri"/>
              </a:rPr>
              <a:t>Prioritization</a:t>
            </a:r>
          </a:p>
        </p:txBody>
      </p:sp>
      <p:sp>
        <p:nvSpPr>
          <p:cNvPr id="30" name="Tagline"/>
          <p:cNvSpPr txBox="1"/>
          <p:nvPr/>
        </p:nvSpPr>
        <p:spPr>
          <a:xfrm>
            <a:off x="457200" y="4191000"/>
            <a:ext cx="8229600" cy="762000"/>
          </a:xfrm>
          <a:prstGeom prst="rect">
            <a:avLst/>
          </a:prstGeom>
          <a:noFill/>
        </p:spPr>
        <p:txBody>
          <a:bodyPr wrap="square" rtlCol="0" anchor="ctr"/>
          <a:lstStyle/>
          <a:p>
            <a:pPr algn="ctr">
              <a:buNone/>
            </a:pPr>
            <a:r>
              <a:rPr lang="en-US" sz="2000" i="1" dirty="0">
                <a:solidFill>
                  <a:srgbClr val="CADCFC"/>
                </a:solidFill>
                <a:latin typeface="Calibri"/>
              </a:rPr>
              <a:t>"Agentic RAG transforms cybersecurity from reactive to proactive"</a:t>
            </a:r>
          </a:p>
        </p:txBody>
      </p:sp>
      <p:sp>
        <p:nvSpPr>
          <p:cNvPr id="31" name="DivLine"/>
          <p:cNvSpPr/>
          <p:nvPr/>
        </p:nvSpPr>
        <p:spPr>
          <a:xfrm>
            <a:off x="3048000" y="5080000"/>
            <a:ext cx="3048000" cy="0"/>
          </a:xfrm>
          <a:prstGeom prst="line">
            <a:avLst/>
          </a:prstGeom>
          <a:ln w="12700">
            <a:solidFill>
              <a:srgbClr val="02C39A"/>
            </a:solidFill>
          </a:ln>
        </p:spPr>
        <p:txBody>
          <a:bodyPr/>
          <a:lstStyle/>
          <a:p>
            <a:endParaRPr lang="en-US"/>
          </a:p>
        </p:txBody>
      </p:sp>
      <p:sp>
        <p:nvSpPr>
          <p:cNvPr id="32" name="ThankYou"/>
          <p:cNvSpPr txBox="1"/>
          <p:nvPr/>
        </p:nvSpPr>
        <p:spPr>
          <a:xfrm>
            <a:off x="457200" y="5283200"/>
            <a:ext cx="8229600" cy="1016000"/>
          </a:xfrm>
          <a:prstGeom prst="rect">
            <a:avLst/>
          </a:prstGeom>
          <a:noFill/>
        </p:spPr>
        <p:txBody>
          <a:bodyPr wrap="square" rtlCol="0" anchor="ctr"/>
          <a:lstStyle/>
          <a:p>
            <a:pPr algn="ctr">
              <a:buNone/>
            </a:pPr>
            <a:r>
              <a:rPr lang="en-US" sz="3600" b="1" dirty="0">
                <a:solidFill>
                  <a:srgbClr val="FFFFFF"/>
                </a:solidFill>
                <a:latin typeface="Calibri"/>
              </a:rPr>
              <a:t>Thank You</a:t>
            </a:r>
          </a:p>
        </p:txBody>
      </p:sp>
    </p:spTree>
    <p:extLst>
      <p:ext uri="{BB962C8B-B14F-4D97-AF65-F5344CB8AC3E}">
        <p14:creationId xmlns:p14="http://schemas.microsoft.com/office/powerpoint/2010/main" val="1363264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A1: TECHNICAL STACK</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Appendix</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Stack0"/>
          <p:cNvSpPr/>
          <p:nvPr/>
        </p:nvSpPr>
        <p:spPr>
          <a:xfrm>
            <a:off x="457200" y="1320800"/>
            <a:ext cx="8229600" cy="889000"/>
          </a:xfrm>
          <a:prstGeom prst="roundRect">
            <a:avLst>
              <a:gd name="adj" fmla="val 5000"/>
            </a:avLst>
          </a:prstGeom>
          <a:solidFill>
            <a:srgbClr val="0D1B3E"/>
          </a:solidFill>
          <a:ln w="9525">
            <a:solidFill>
              <a:srgbClr val="02C39A"/>
            </a:solidFill>
          </a:ln>
        </p:spPr>
        <p:txBody>
          <a:bodyPr wrap="square" lIns="180000" rIns="144000" rtlCol="0" anchor="ctr"/>
          <a:lstStyle/>
          <a:p>
            <a:pPr algn="l">
              <a:buNone/>
            </a:pPr>
            <a:r>
              <a:rPr lang="en-US" sz="1800" b="1" dirty="0">
                <a:solidFill>
                  <a:srgbClr val="FFFFFF"/>
                </a:solidFill>
                <a:latin typeface="Calibri"/>
              </a:rPr>
              <a:t>LangFlow 1.0</a:t>
            </a:r>
            <a:r>
              <a:rPr lang="en-US" sz="1600" dirty="0">
                <a:solidFill>
                  <a:srgbClr val="CADCFC"/>
                </a:solidFill>
                <a:latin typeface="Calibri"/>
              </a:rPr>
              <a:t>    Visual RAG workflow builder</a:t>
            </a:r>
          </a:p>
        </p:txBody>
      </p:sp>
      <p:sp>
        <p:nvSpPr>
          <p:cNvPr id="21" name="Stack1"/>
          <p:cNvSpPr/>
          <p:nvPr/>
        </p:nvSpPr>
        <p:spPr>
          <a:xfrm>
            <a:off x="457200" y="2362200"/>
            <a:ext cx="8229600" cy="889000"/>
          </a:xfrm>
          <a:prstGeom prst="roundRect">
            <a:avLst>
              <a:gd name="adj" fmla="val 5000"/>
            </a:avLst>
          </a:prstGeom>
          <a:solidFill>
            <a:srgbClr val="0D1B3E"/>
          </a:solidFill>
          <a:ln w="9525">
            <a:solidFill>
              <a:srgbClr val="3A86FF"/>
            </a:solidFill>
          </a:ln>
        </p:spPr>
        <p:txBody>
          <a:bodyPr wrap="square" lIns="180000" rIns="144000" rtlCol="0" anchor="ctr"/>
          <a:lstStyle/>
          <a:p>
            <a:pPr algn="l">
              <a:buNone/>
            </a:pPr>
            <a:r>
              <a:rPr lang="en-US" sz="1800" b="1" dirty="0">
                <a:solidFill>
                  <a:srgbClr val="FFFFFF"/>
                </a:solidFill>
                <a:latin typeface="Calibri"/>
              </a:rPr>
              <a:t>OpenAI API (GPT 5.1)</a:t>
            </a:r>
            <a:r>
              <a:rPr lang="en-US" sz="1600" dirty="0">
                <a:solidFill>
                  <a:srgbClr val="CADCFC"/>
                </a:solidFill>
                <a:latin typeface="Calibri"/>
              </a:rPr>
              <a:t>    LLM for agent reasoning</a:t>
            </a:r>
          </a:p>
        </p:txBody>
      </p:sp>
      <p:sp>
        <p:nvSpPr>
          <p:cNvPr id="22" name="Stack2"/>
          <p:cNvSpPr/>
          <p:nvPr/>
        </p:nvSpPr>
        <p:spPr>
          <a:xfrm>
            <a:off x="457200" y="3403600"/>
            <a:ext cx="8229600" cy="889000"/>
          </a:xfrm>
          <a:prstGeom prst="roundRect">
            <a:avLst>
              <a:gd name="adj" fmla="val 5000"/>
            </a:avLst>
          </a:prstGeom>
          <a:solidFill>
            <a:srgbClr val="0D1B3E"/>
          </a:solidFill>
          <a:ln w="9525">
            <a:solidFill>
              <a:srgbClr val="FF6B35"/>
            </a:solidFill>
          </a:ln>
        </p:spPr>
        <p:txBody>
          <a:bodyPr wrap="square" lIns="180000" rIns="144000" rtlCol="0" anchor="ctr"/>
          <a:lstStyle/>
          <a:p>
            <a:pPr algn="l">
              <a:buNone/>
            </a:pPr>
            <a:r>
              <a:rPr lang="en-US" sz="1800" b="1" dirty="0">
                <a:solidFill>
                  <a:srgbClr val="FFFFFF"/>
                </a:solidFill>
                <a:latin typeface="Calibri"/>
              </a:rPr>
              <a:t>OpenAI Embeddings</a:t>
            </a:r>
            <a:r>
              <a:rPr lang="en-US" sz="1600" dirty="0">
                <a:solidFill>
                  <a:srgbClr val="CADCFC"/>
                </a:solidFill>
                <a:latin typeface="Calibri"/>
              </a:rPr>
              <a:t>    text-embedding-3-small</a:t>
            </a:r>
          </a:p>
        </p:txBody>
      </p:sp>
      <p:sp>
        <p:nvSpPr>
          <p:cNvPr id="23" name="Stack3"/>
          <p:cNvSpPr/>
          <p:nvPr/>
        </p:nvSpPr>
        <p:spPr>
          <a:xfrm>
            <a:off x="457200" y="4445000"/>
            <a:ext cx="8229600" cy="889000"/>
          </a:xfrm>
          <a:prstGeom prst="roundRect">
            <a:avLst>
              <a:gd name="adj" fmla="val 5000"/>
            </a:avLst>
          </a:prstGeom>
          <a:solidFill>
            <a:srgbClr val="0D1B3E"/>
          </a:solidFill>
          <a:ln w="9525">
            <a:solidFill>
              <a:srgbClr val="E63946"/>
            </a:solidFill>
          </a:ln>
        </p:spPr>
        <p:txBody>
          <a:bodyPr wrap="square" lIns="180000" rIns="144000" rtlCol="0" anchor="ctr"/>
          <a:lstStyle/>
          <a:p>
            <a:pPr algn="l">
              <a:buNone/>
            </a:pPr>
            <a:r>
              <a:rPr lang="en-US" sz="1800" b="1" dirty="0">
                <a:solidFill>
                  <a:srgbClr val="FFFFFF"/>
                </a:solidFill>
                <a:latin typeface="Calibri"/>
              </a:rPr>
              <a:t>ChromaDB 0.4.22</a:t>
            </a:r>
            <a:r>
              <a:rPr lang="en-US" sz="1600" dirty="0">
                <a:solidFill>
                  <a:srgbClr val="CADCFC"/>
                </a:solidFill>
                <a:latin typeface="Calibri"/>
              </a:rPr>
              <a:t>    Vector database</a:t>
            </a:r>
          </a:p>
        </p:txBody>
      </p:sp>
      <p:sp>
        <p:nvSpPr>
          <p:cNvPr id="24" name="Stack4"/>
          <p:cNvSpPr/>
          <p:nvPr/>
        </p:nvSpPr>
        <p:spPr>
          <a:xfrm>
            <a:off x="457200" y="5486400"/>
            <a:ext cx="8229600" cy="889000"/>
          </a:xfrm>
          <a:prstGeom prst="roundRect">
            <a:avLst>
              <a:gd name="adj" fmla="val 5000"/>
            </a:avLst>
          </a:prstGeom>
          <a:solidFill>
            <a:srgbClr val="0D1B3E"/>
          </a:solidFill>
          <a:ln w="9525">
            <a:solidFill>
              <a:srgbClr val="9B59B6"/>
            </a:solidFill>
          </a:ln>
        </p:spPr>
        <p:txBody>
          <a:bodyPr wrap="square" lIns="180000" rIns="144000" rtlCol="0" anchor="ctr"/>
          <a:lstStyle/>
          <a:p>
            <a:pPr algn="l">
              <a:buNone/>
            </a:pPr>
            <a:r>
              <a:rPr lang="en-US" sz="1800" b="1" dirty="0">
                <a:solidFill>
                  <a:srgbClr val="FFFFFF"/>
                </a:solidFill>
                <a:latin typeface="Calibri"/>
              </a:rPr>
              <a:t>Python 3.11</a:t>
            </a:r>
            <a:r>
              <a:rPr lang="en-US" sz="1600" dirty="0">
                <a:solidFill>
                  <a:srgbClr val="CADCFC"/>
                </a:solidFill>
                <a:latin typeface="Calibri"/>
              </a:rPr>
              <a:t>    Runtime environment</a:t>
            </a:r>
          </a:p>
        </p:txBody>
      </p:sp>
    </p:spTree>
    <p:extLst>
      <p:ext uri="{BB962C8B-B14F-4D97-AF65-F5344CB8AC3E}">
        <p14:creationId xmlns:p14="http://schemas.microsoft.com/office/powerpoint/2010/main" val="1326985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A2: DATASET STATISTICS</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Appendix</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Stat0"/>
          <p:cNvSpPr/>
          <p:nvPr/>
        </p:nvSpPr>
        <p:spPr>
          <a:xfrm>
            <a:off x="457200" y="1320800"/>
            <a:ext cx="2692400" cy="4953000"/>
          </a:xfrm>
          <a:prstGeom prst="roundRect">
            <a:avLst>
              <a:gd name="adj" fmla="val 4000"/>
            </a:avLst>
          </a:prstGeom>
          <a:solidFill>
            <a:srgbClr val="0D1B3E"/>
          </a:solidFill>
          <a:ln w="12700">
            <a:solidFill>
              <a:srgbClr val="02C39A"/>
            </a:solidFill>
          </a:ln>
        </p:spPr>
        <p:txBody>
          <a:bodyPr wrap="square" tIns="144000" rtlCol="0" anchor="t"/>
          <a:lstStyle/>
          <a:p>
            <a:pPr algn="ctr">
              <a:buNone/>
            </a:pPr>
            <a:r>
              <a:rPr lang="en-US" sz="2800" b="1" dirty="0">
                <a:solidFill>
                  <a:srgbClr val="02C39A"/>
                </a:solidFill>
                <a:latin typeface="Calibri"/>
              </a:rPr>
              <a:t>CVEs: 100</a:t>
            </a:r>
          </a:p>
          <a:p>
            <a:pPr algn="ctr">
              <a:buNone/>
            </a:pPr>
            <a:r>
              <a:rPr lang="en-US" sz="1400" dirty="0">
                <a:solidFill>
                  <a:srgbClr val="CADCFC"/>
                </a:solidFill>
                <a:latin typeface="Calibri"/>
              </a:rPr>
              <a:t>2023-2025</a:t>
            </a:r>
          </a:p>
          <a:p>
            <a:pPr algn="ctr">
              <a:buNone/>
            </a:pPr>
            <a:r>
              <a:rPr lang="en-US" sz="1400" dirty="0">
                <a:solidFill>
                  <a:srgbClr val="CADCFC"/>
                </a:solidFill>
                <a:latin typeface="Calibri"/>
              </a:rPr>
              <a:t>CRITICAL: 40</a:t>
            </a:r>
          </a:p>
          <a:p>
            <a:pPr algn="ctr">
              <a:buNone/>
            </a:pPr>
            <a:r>
              <a:rPr lang="en-US" sz="1400" dirty="0">
                <a:solidFill>
                  <a:srgbClr val="CADCFC"/>
                </a:solidFill>
                <a:latin typeface="Calibri"/>
              </a:rPr>
              <a:t>HIGH: 50</a:t>
            </a:r>
          </a:p>
          <a:p>
            <a:pPr algn="ctr">
              <a:buNone/>
            </a:pPr>
            <a:r>
              <a:rPr lang="en-US" sz="1400" dirty="0">
                <a:solidFill>
                  <a:srgbClr val="CADCFC"/>
                </a:solidFill>
                <a:latin typeface="Calibri"/>
              </a:rPr>
              <a:t>MEDIUM: 10</a:t>
            </a:r>
          </a:p>
        </p:txBody>
      </p:sp>
      <p:sp>
        <p:nvSpPr>
          <p:cNvPr id="21" name="Stat1"/>
          <p:cNvSpPr/>
          <p:nvPr/>
        </p:nvSpPr>
        <p:spPr>
          <a:xfrm>
            <a:off x="3302000" y="1320800"/>
            <a:ext cx="2692400" cy="4953000"/>
          </a:xfrm>
          <a:prstGeom prst="roundRect">
            <a:avLst>
              <a:gd name="adj" fmla="val 4000"/>
            </a:avLst>
          </a:prstGeom>
          <a:solidFill>
            <a:srgbClr val="0D1B3E"/>
          </a:solidFill>
          <a:ln w="12700">
            <a:solidFill>
              <a:srgbClr val="3A86FF"/>
            </a:solidFill>
          </a:ln>
        </p:spPr>
        <p:txBody>
          <a:bodyPr wrap="square" tIns="144000" rtlCol="0" anchor="t"/>
          <a:lstStyle/>
          <a:p>
            <a:pPr algn="ctr">
              <a:buNone/>
            </a:pPr>
            <a:r>
              <a:rPr lang="en-US" sz="2800" b="1" dirty="0">
                <a:solidFill>
                  <a:srgbClr val="3A86FF"/>
                </a:solidFill>
                <a:latin typeface="Calibri"/>
              </a:rPr>
              <a:t>Assets: 25</a:t>
            </a:r>
          </a:p>
          <a:p>
            <a:pPr algn="ctr">
              <a:buNone/>
            </a:pPr>
            <a:r>
              <a:rPr lang="en-US" sz="1400" dirty="0">
                <a:solidFill>
                  <a:srgbClr val="CADCFC"/>
                </a:solidFill>
                <a:latin typeface="Calibri"/>
              </a:rPr>
              <a:t>Internal Systems</a:t>
            </a:r>
          </a:p>
          <a:p>
            <a:pPr algn="ctr">
              <a:buNone/>
            </a:pPr>
            <a:r>
              <a:rPr lang="en-US" sz="1400" dirty="0">
                <a:solidFill>
                  <a:srgbClr val="CADCFC"/>
                </a:solidFill>
                <a:latin typeface="Calibri"/>
              </a:rPr>
              <a:t>Workstations: 12</a:t>
            </a:r>
          </a:p>
          <a:p>
            <a:pPr algn="ctr">
              <a:buNone/>
            </a:pPr>
            <a:r>
              <a:rPr lang="en-US" sz="1400" dirty="0">
                <a:solidFill>
                  <a:srgbClr val="CADCFC"/>
                </a:solidFill>
                <a:latin typeface="Calibri"/>
              </a:rPr>
              <a:t>Servers: 11</a:t>
            </a:r>
          </a:p>
          <a:p>
            <a:pPr algn="ctr">
              <a:buNone/>
            </a:pPr>
            <a:r>
              <a:rPr lang="en-US" sz="1400" dirty="0">
                <a:solidFill>
                  <a:srgbClr val="CADCFC"/>
                </a:solidFill>
                <a:latin typeface="Calibri"/>
              </a:rPr>
              <a:t>Network Devices: 2</a:t>
            </a:r>
          </a:p>
        </p:txBody>
      </p:sp>
      <p:sp>
        <p:nvSpPr>
          <p:cNvPr id="22" name="Stat2"/>
          <p:cNvSpPr/>
          <p:nvPr/>
        </p:nvSpPr>
        <p:spPr>
          <a:xfrm>
            <a:off x="6146800" y="1320800"/>
            <a:ext cx="2692400" cy="4953000"/>
          </a:xfrm>
          <a:prstGeom prst="roundRect">
            <a:avLst>
              <a:gd name="adj" fmla="val 4000"/>
            </a:avLst>
          </a:prstGeom>
          <a:solidFill>
            <a:srgbClr val="0D1B3E"/>
          </a:solidFill>
          <a:ln w="12700">
            <a:solidFill>
              <a:srgbClr val="FF6B35"/>
            </a:solidFill>
          </a:ln>
        </p:spPr>
        <p:txBody>
          <a:bodyPr wrap="square" tIns="144000" rtlCol="0" anchor="t"/>
          <a:lstStyle/>
          <a:p>
            <a:pPr algn="ctr">
              <a:buNone/>
            </a:pPr>
            <a:r>
              <a:rPr lang="en-US" sz="2800" b="1" dirty="0">
                <a:solidFill>
                  <a:srgbClr val="FF6B35"/>
                </a:solidFill>
                <a:latin typeface="Calibri"/>
              </a:rPr>
              <a:t>Vendors: 12+</a:t>
            </a:r>
          </a:p>
          <a:p>
            <a:pPr algn="ctr">
              <a:buNone/>
            </a:pPr>
            <a:r>
              <a:rPr lang="en-US" sz="1400" dirty="0">
                <a:solidFill>
                  <a:srgbClr val="CADCFC"/>
                </a:solidFill>
                <a:latin typeface="Calibri"/>
              </a:rPr>
              <a:t>Industry Coverage</a:t>
            </a:r>
          </a:p>
          <a:p>
            <a:pPr algn="ctr">
              <a:buNone/>
            </a:pPr>
            <a:r>
              <a:rPr lang="en-US" sz="1400" dirty="0">
                <a:solidFill>
                  <a:srgbClr val="CADCFC"/>
                </a:solidFill>
                <a:latin typeface="Calibri"/>
              </a:rPr>
              <a:t>Microsoft, Apache,</a:t>
            </a:r>
          </a:p>
          <a:p>
            <a:pPr algn="ctr">
              <a:buNone/>
            </a:pPr>
            <a:r>
              <a:rPr lang="en-US" sz="1400" dirty="0">
                <a:solidFill>
                  <a:srgbClr val="CADCFC"/>
                </a:solidFill>
                <a:latin typeface="Calibri"/>
              </a:rPr>
              <a:t>Fortinet, Cisco,</a:t>
            </a:r>
          </a:p>
          <a:p>
            <a:pPr algn="ctr">
              <a:buNone/>
            </a:pPr>
            <a:r>
              <a:rPr lang="en-US" sz="1400" dirty="0">
                <a:solidFill>
                  <a:srgbClr val="CADCFC"/>
                </a:solidFill>
                <a:latin typeface="Calibri"/>
              </a:rPr>
              <a:t>VMware, and others</a:t>
            </a:r>
          </a:p>
        </p:txBody>
      </p:sp>
    </p:spTree>
    <p:extLst>
      <p:ext uri="{BB962C8B-B14F-4D97-AF65-F5344CB8AC3E}">
        <p14:creationId xmlns:p14="http://schemas.microsoft.com/office/powerpoint/2010/main" val="2817889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400" b="1" dirty="0">
                <a:solidFill>
                  <a:srgbClr val="FFFFFF"/>
                </a:solidFill>
                <a:latin typeface="Calibri"/>
              </a:rPr>
              <a:t>APPENDIX A3: PERFORMANCE BENCHMARKS</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Appendix</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B0"/>
          <p:cNvSpPr/>
          <p:nvPr/>
        </p:nvSpPr>
        <p:spPr>
          <a:xfrm>
            <a:off x="457200" y="1320800"/>
            <a:ext cx="4038600" cy="2413000"/>
          </a:xfrm>
          <a:prstGeom prst="roundRect">
            <a:avLst>
              <a:gd name="adj" fmla="val 4000"/>
            </a:avLst>
          </a:prstGeom>
          <a:solidFill>
            <a:srgbClr val="0D1B3E"/>
          </a:solidFill>
          <a:ln w="12700">
            <a:solidFill>
              <a:srgbClr val="02C39A"/>
            </a:solidFill>
          </a:ln>
        </p:spPr>
        <p:txBody>
          <a:bodyPr wrap="square" rtlCol="0" anchor="ctr"/>
          <a:lstStyle/>
          <a:p>
            <a:pPr algn="ctr">
              <a:buNone/>
            </a:pPr>
            <a:r>
              <a:rPr lang="en-US" sz="1600" dirty="0">
                <a:solidFill>
                  <a:srgbClr val="CADCFC"/>
                </a:solidFill>
                <a:latin typeface="Calibri"/>
              </a:rPr>
              <a:t>Query Latency</a:t>
            </a:r>
          </a:p>
          <a:p>
            <a:pPr algn="ctr">
              <a:buNone/>
            </a:pPr>
            <a:r>
              <a:rPr lang="en-US" sz="4000" b="1" dirty="0">
                <a:solidFill>
                  <a:srgbClr val="02C39A"/>
                </a:solidFill>
                <a:latin typeface="Calibri"/>
              </a:rPr>
              <a:t>3-5 sec</a:t>
            </a:r>
          </a:p>
          <a:p>
            <a:pPr algn="ctr">
              <a:buNone/>
            </a:pPr>
            <a:r>
              <a:rPr lang="en-US" sz="1400" dirty="0">
                <a:solidFill>
                  <a:srgbClr val="CADCFC"/>
                </a:solidFill>
                <a:latin typeface="Calibri"/>
              </a:rPr>
              <a:t>average response time</a:t>
            </a:r>
          </a:p>
        </p:txBody>
      </p:sp>
      <p:sp>
        <p:nvSpPr>
          <p:cNvPr id="21" name="B1"/>
          <p:cNvSpPr/>
          <p:nvPr/>
        </p:nvSpPr>
        <p:spPr>
          <a:xfrm>
            <a:off x="4724400" y="1320800"/>
            <a:ext cx="4038600" cy="2413000"/>
          </a:xfrm>
          <a:prstGeom prst="roundRect">
            <a:avLst>
              <a:gd name="adj" fmla="val 4000"/>
            </a:avLst>
          </a:prstGeom>
          <a:solidFill>
            <a:srgbClr val="0D1B3E"/>
          </a:solidFill>
          <a:ln w="12700">
            <a:solidFill>
              <a:srgbClr val="3A86FF"/>
            </a:solidFill>
          </a:ln>
        </p:spPr>
        <p:txBody>
          <a:bodyPr wrap="square" rtlCol="0" anchor="ctr"/>
          <a:lstStyle/>
          <a:p>
            <a:pPr algn="ctr">
              <a:buNone/>
            </a:pPr>
            <a:r>
              <a:rPr lang="en-US" sz="1600" dirty="0">
                <a:solidFill>
                  <a:srgbClr val="CADCFC"/>
                </a:solidFill>
                <a:latin typeface="Calibri"/>
              </a:rPr>
              <a:t>Embedding Cost</a:t>
            </a:r>
          </a:p>
          <a:p>
            <a:pPr algn="ctr">
              <a:buNone/>
            </a:pPr>
            <a:r>
              <a:rPr lang="en-US" sz="4000" b="1" dirty="0">
                <a:solidFill>
                  <a:srgbClr val="3A86FF"/>
                </a:solidFill>
                <a:latin typeface="Calibri"/>
              </a:rPr>
              <a:t>$0.02</a:t>
            </a:r>
          </a:p>
          <a:p>
            <a:pPr algn="ctr">
              <a:buNone/>
            </a:pPr>
            <a:r>
              <a:rPr lang="en-US" sz="1400" dirty="0">
                <a:solidFill>
                  <a:srgbClr val="CADCFC"/>
                </a:solidFill>
                <a:latin typeface="Calibri"/>
              </a:rPr>
              <a:t>per 1,000 queries</a:t>
            </a:r>
          </a:p>
        </p:txBody>
      </p:sp>
      <p:sp>
        <p:nvSpPr>
          <p:cNvPr id="22" name="B2"/>
          <p:cNvSpPr/>
          <p:nvPr/>
        </p:nvSpPr>
        <p:spPr>
          <a:xfrm>
            <a:off x="457200" y="3987800"/>
            <a:ext cx="4038600" cy="2413000"/>
          </a:xfrm>
          <a:prstGeom prst="roundRect">
            <a:avLst>
              <a:gd name="adj" fmla="val 4000"/>
            </a:avLst>
          </a:prstGeom>
          <a:solidFill>
            <a:srgbClr val="0D1B3E"/>
          </a:solidFill>
          <a:ln w="12700">
            <a:solidFill>
              <a:srgbClr val="FF6B35"/>
            </a:solidFill>
          </a:ln>
        </p:spPr>
        <p:txBody>
          <a:bodyPr wrap="square" rtlCol="0" anchor="ctr"/>
          <a:lstStyle/>
          <a:p>
            <a:pPr algn="ctr">
              <a:buNone/>
            </a:pPr>
            <a:r>
              <a:rPr lang="en-US" sz="1600" dirty="0">
                <a:solidFill>
                  <a:srgbClr val="CADCFC"/>
                </a:solidFill>
                <a:latin typeface="Calibri"/>
              </a:rPr>
              <a:t>Vector DB Size</a:t>
            </a:r>
          </a:p>
          <a:p>
            <a:pPr algn="ctr">
              <a:buNone/>
            </a:pPr>
            <a:r>
              <a:rPr lang="en-US" sz="4000" b="1" dirty="0">
                <a:solidFill>
                  <a:srgbClr val="FF6B35"/>
                </a:solidFill>
                <a:latin typeface="Calibri"/>
              </a:rPr>
              <a:t>15 MB</a:t>
            </a:r>
          </a:p>
          <a:p>
            <a:pPr algn="ctr">
              <a:buNone/>
            </a:pPr>
            <a:r>
              <a:rPr lang="en-US" sz="1400" dirty="0">
                <a:solidFill>
                  <a:srgbClr val="CADCFC"/>
                </a:solidFill>
                <a:latin typeface="Calibri"/>
              </a:rPr>
              <a:t>CVE + Asset combined</a:t>
            </a:r>
          </a:p>
        </p:txBody>
      </p:sp>
      <p:sp>
        <p:nvSpPr>
          <p:cNvPr id="23" name="B3"/>
          <p:cNvSpPr/>
          <p:nvPr/>
        </p:nvSpPr>
        <p:spPr>
          <a:xfrm>
            <a:off x="4724400" y="3987800"/>
            <a:ext cx="4038600" cy="2413000"/>
          </a:xfrm>
          <a:prstGeom prst="roundRect">
            <a:avLst>
              <a:gd name="adj" fmla="val 4000"/>
            </a:avLst>
          </a:prstGeom>
          <a:solidFill>
            <a:srgbClr val="0D1B3E"/>
          </a:solidFill>
          <a:ln w="12700">
            <a:solidFill>
              <a:srgbClr val="E63946"/>
            </a:solidFill>
          </a:ln>
        </p:spPr>
        <p:txBody>
          <a:bodyPr wrap="square" rtlCol="0" anchor="ctr"/>
          <a:lstStyle/>
          <a:p>
            <a:pPr algn="ctr">
              <a:buNone/>
            </a:pPr>
            <a:r>
              <a:rPr lang="en-US" sz="1600" dirty="0">
                <a:solidFill>
                  <a:srgbClr val="CADCFC"/>
                </a:solidFill>
                <a:latin typeface="Calibri"/>
              </a:rPr>
              <a:t>Agent Accuracy</a:t>
            </a:r>
          </a:p>
          <a:p>
            <a:pPr algn="ctr">
              <a:buNone/>
            </a:pPr>
            <a:r>
              <a:rPr lang="en-US" sz="4000" b="1" dirty="0">
                <a:solidFill>
                  <a:srgbClr val="E63946"/>
                </a:solidFill>
                <a:latin typeface="Calibri"/>
              </a:rPr>
              <a:t>94%</a:t>
            </a:r>
          </a:p>
          <a:p>
            <a:pPr algn="ctr">
              <a:buNone/>
            </a:pPr>
            <a:r>
              <a:rPr lang="en-US" sz="1400" dirty="0">
                <a:solidFill>
                  <a:srgbClr val="CADCFC"/>
                </a:solidFill>
                <a:latin typeface="Calibri"/>
              </a:rPr>
              <a:t>based on test suite</a:t>
            </a:r>
          </a:p>
        </p:txBody>
      </p:sp>
    </p:spTree>
    <p:extLst>
      <p:ext uri="{BB962C8B-B14F-4D97-AF65-F5344CB8AC3E}">
        <p14:creationId xmlns:p14="http://schemas.microsoft.com/office/powerpoint/2010/main" val="2664496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10" name="T"/>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A4: REFERENCES</a:t>
            </a:r>
          </a:p>
        </p:txBody>
      </p:sp>
      <p:sp>
        <p:nvSpPr>
          <p:cNvPr id="11" name="S"/>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Appendix</a:t>
            </a:r>
          </a:p>
        </p:txBody>
      </p:sp>
      <p:sp>
        <p:nvSpPr>
          <p:cNvPr id="12" name="L"/>
          <p:cNvSpPr/>
          <p:nvPr/>
        </p:nvSpPr>
        <p:spPr>
          <a:xfrm>
            <a:off x="457200" y="1041400"/>
            <a:ext cx="8229600" cy="0"/>
          </a:xfrm>
          <a:prstGeom prst="line">
            <a:avLst/>
          </a:prstGeom>
          <a:ln w="12700">
            <a:solidFill>
              <a:srgbClr val="02C39A"/>
            </a:solidFill>
          </a:ln>
        </p:spPr>
        <p:txBody>
          <a:bodyPr/>
          <a:lstStyle/>
          <a:p>
            <a:endParaRPr lang="en-US"/>
          </a:p>
        </p:txBody>
      </p:sp>
      <p:sp>
        <p:nvSpPr>
          <p:cNvPr id="20" name="RN0"/>
          <p:cNvSpPr/>
          <p:nvPr/>
        </p:nvSpPr>
        <p:spPr>
          <a:xfrm>
            <a:off x="635000" y="1397000"/>
            <a:ext cx="457200" cy="457200"/>
          </a:xfrm>
          <a:prstGeom prst="ellipse">
            <a:avLst/>
          </a:prstGeom>
          <a:solidFill>
            <a:srgbClr val="02C39A"/>
          </a:solidFill>
          <a:ln>
            <a:noFill/>
          </a:ln>
        </p:spPr>
        <p:txBody>
          <a:bodyPr wrap="none" lIns="0" tIns="0" rIns="0" bIns="0" rtlCol="0" anchor="ctr"/>
          <a:lstStyle/>
          <a:p>
            <a:pPr algn="ctr">
              <a:buNone/>
            </a:pPr>
            <a:r>
              <a:rPr lang="en-US" sz="1600" b="1" dirty="0">
                <a:solidFill>
                  <a:srgbClr val="FFFFFF"/>
                </a:solidFill>
                <a:latin typeface="Calibri"/>
              </a:rPr>
              <a:t>1</a:t>
            </a:r>
          </a:p>
        </p:txBody>
      </p:sp>
      <p:sp>
        <p:nvSpPr>
          <p:cNvPr id="21" name="RT0"/>
          <p:cNvSpPr txBox="1"/>
          <p:nvPr/>
        </p:nvSpPr>
        <p:spPr>
          <a:xfrm>
            <a:off x="1270000" y="1397000"/>
            <a:ext cx="7112000" cy="457200"/>
          </a:xfrm>
          <a:prstGeom prst="rect">
            <a:avLst/>
          </a:prstGeom>
          <a:noFill/>
        </p:spPr>
        <p:txBody>
          <a:bodyPr wrap="square" rtlCol="0" anchor="ctr"/>
          <a:lstStyle/>
          <a:p>
            <a:pPr algn="l">
              <a:buNone/>
            </a:pPr>
            <a:r>
              <a:rPr lang="en-US" sz="1800" dirty="0">
                <a:solidFill>
                  <a:srgbClr val="CADCFC"/>
                </a:solidFill>
                <a:latin typeface="Calibri"/>
              </a:rPr>
              <a:t>IBM Cost of Data Breach Report 2024</a:t>
            </a:r>
          </a:p>
        </p:txBody>
      </p:sp>
      <p:sp>
        <p:nvSpPr>
          <p:cNvPr id="22" name="RN1"/>
          <p:cNvSpPr/>
          <p:nvPr/>
        </p:nvSpPr>
        <p:spPr>
          <a:xfrm>
            <a:off x="635000" y="2413000"/>
            <a:ext cx="457200" cy="457200"/>
          </a:xfrm>
          <a:prstGeom prst="ellipse">
            <a:avLst/>
          </a:prstGeom>
          <a:solidFill>
            <a:srgbClr val="3A86FF"/>
          </a:solidFill>
          <a:ln>
            <a:noFill/>
          </a:ln>
        </p:spPr>
        <p:txBody>
          <a:bodyPr wrap="none" lIns="0" tIns="0" rIns="0" bIns="0" rtlCol="0" anchor="ctr"/>
          <a:lstStyle/>
          <a:p>
            <a:pPr algn="ctr">
              <a:buNone/>
            </a:pPr>
            <a:r>
              <a:rPr lang="en-US" sz="1600" b="1" dirty="0">
                <a:solidFill>
                  <a:srgbClr val="FFFFFF"/>
                </a:solidFill>
                <a:latin typeface="Calibri"/>
              </a:rPr>
              <a:t>2</a:t>
            </a:r>
          </a:p>
        </p:txBody>
      </p:sp>
      <p:sp>
        <p:nvSpPr>
          <p:cNvPr id="23" name="RT1"/>
          <p:cNvSpPr txBox="1"/>
          <p:nvPr/>
        </p:nvSpPr>
        <p:spPr>
          <a:xfrm>
            <a:off x="1270000" y="2413000"/>
            <a:ext cx="7112000" cy="457200"/>
          </a:xfrm>
          <a:prstGeom prst="rect">
            <a:avLst/>
          </a:prstGeom>
          <a:noFill/>
        </p:spPr>
        <p:txBody>
          <a:bodyPr wrap="square" rtlCol="0" anchor="ctr"/>
          <a:lstStyle/>
          <a:p>
            <a:pPr algn="l">
              <a:buNone/>
            </a:pPr>
            <a:r>
              <a:rPr lang="en-US" sz="1800" dirty="0">
                <a:solidFill>
                  <a:srgbClr val="CADCFC"/>
                </a:solidFill>
                <a:latin typeface="Calibri"/>
              </a:rPr>
              <a:t>NIST National Vulnerability Database</a:t>
            </a:r>
          </a:p>
        </p:txBody>
      </p:sp>
      <p:sp>
        <p:nvSpPr>
          <p:cNvPr id="24" name="RN2"/>
          <p:cNvSpPr/>
          <p:nvPr/>
        </p:nvSpPr>
        <p:spPr>
          <a:xfrm>
            <a:off x="635000" y="3429000"/>
            <a:ext cx="457200" cy="457200"/>
          </a:xfrm>
          <a:prstGeom prst="ellipse">
            <a:avLst/>
          </a:prstGeom>
          <a:solidFill>
            <a:srgbClr val="FF6B35"/>
          </a:solidFill>
          <a:ln>
            <a:noFill/>
          </a:ln>
        </p:spPr>
        <p:txBody>
          <a:bodyPr wrap="none" lIns="0" tIns="0" rIns="0" bIns="0" rtlCol="0" anchor="ctr"/>
          <a:lstStyle/>
          <a:p>
            <a:pPr algn="ctr">
              <a:buNone/>
            </a:pPr>
            <a:r>
              <a:rPr lang="en-US" sz="1600" b="1" dirty="0">
                <a:solidFill>
                  <a:srgbClr val="FFFFFF"/>
                </a:solidFill>
                <a:latin typeface="Calibri"/>
              </a:rPr>
              <a:t>3</a:t>
            </a:r>
          </a:p>
        </p:txBody>
      </p:sp>
      <p:sp>
        <p:nvSpPr>
          <p:cNvPr id="25" name="RT2"/>
          <p:cNvSpPr txBox="1"/>
          <p:nvPr/>
        </p:nvSpPr>
        <p:spPr>
          <a:xfrm>
            <a:off x="1270000" y="3429000"/>
            <a:ext cx="7112000" cy="457200"/>
          </a:xfrm>
          <a:prstGeom prst="rect">
            <a:avLst/>
          </a:prstGeom>
          <a:noFill/>
        </p:spPr>
        <p:txBody>
          <a:bodyPr wrap="square" rtlCol="0" anchor="ctr"/>
          <a:lstStyle/>
          <a:p>
            <a:pPr algn="l">
              <a:buNone/>
            </a:pPr>
            <a:r>
              <a:rPr lang="en-US" sz="1800" dirty="0">
                <a:solidFill>
                  <a:srgbClr val="CADCFC"/>
                </a:solidFill>
                <a:latin typeface="Calibri"/>
              </a:rPr>
              <a:t>LangFlow Documentation</a:t>
            </a:r>
          </a:p>
        </p:txBody>
      </p:sp>
      <p:sp>
        <p:nvSpPr>
          <p:cNvPr id="26" name="RN3"/>
          <p:cNvSpPr/>
          <p:nvPr/>
        </p:nvSpPr>
        <p:spPr>
          <a:xfrm>
            <a:off x="635000" y="4445000"/>
            <a:ext cx="457200" cy="457200"/>
          </a:xfrm>
          <a:prstGeom prst="ellipse">
            <a:avLst/>
          </a:prstGeom>
          <a:solidFill>
            <a:srgbClr val="E63946"/>
          </a:solidFill>
          <a:ln>
            <a:noFill/>
          </a:ln>
        </p:spPr>
        <p:txBody>
          <a:bodyPr wrap="none" lIns="0" tIns="0" rIns="0" bIns="0" rtlCol="0" anchor="ctr"/>
          <a:lstStyle/>
          <a:p>
            <a:pPr algn="ctr">
              <a:buNone/>
            </a:pPr>
            <a:r>
              <a:rPr lang="en-US" sz="1600" b="1" dirty="0">
                <a:solidFill>
                  <a:srgbClr val="FFFFFF"/>
                </a:solidFill>
                <a:latin typeface="Calibri"/>
              </a:rPr>
              <a:t>4</a:t>
            </a:r>
          </a:p>
        </p:txBody>
      </p:sp>
      <p:sp>
        <p:nvSpPr>
          <p:cNvPr id="27" name="RT3"/>
          <p:cNvSpPr txBox="1"/>
          <p:nvPr/>
        </p:nvSpPr>
        <p:spPr>
          <a:xfrm>
            <a:off x="1270000" y="4445000"/>
            <a:ext cx="7112000" cy="457200"/>
          </a:xfrm>
          <a:prstGeom prst="rect">
            <a:avLst/>
          </a:prstGeom>
          <a:noFill/>
        </p:spPr>
        <p:txBody>
          <a:bodyPr wrap="square" rtlCol="0" anchor="ctr"/>
          <a:lstStyle/>
          <a:p>
            <a:pPr algn="l">
              <a:buNone/>
            </a:pPr>
            <a:r>
              <a:rPr lang="en-US" sz="1800" dirty="0">
                <a:solidFill>
                  <a:srgbClr val="CADCFC"/>
                </a:solidFill>
                <a:latin typeface="Calibri"/>
              </a:rPr>
              <a:t>Claude API Documentation</a:t>
            </a:r>
          </a:p>
        </p:txBody>
      </p:sp>
      <p:sp>
        <p:nvSpPr>
          <p:cNvPr id="28" name="RN4"/>
          <p:cNvSpPr/>
          <p:nvPr/>
        </p:nvSpPr>
        <p:spPr>
          <a:xfrm>
            <a:off x="635000" y="5461000"/>
            <a:ext cx="457200" cy="457200"/>
          </a:xfrm>
          <a:prstGeom prst="ellipse">
            <a:avLst/>
          </a:prstGeom>
          <a:solidFill>
            <a:srgbClr val="9B59B6"/>
          </a:solidFill>
          <a:ln>
            <a:noFill/>
          </a:ln>
        </p:spPr>
        <p:txBody>
          <a:bodyPr wrap="none" lIns="0" tIns="0" rIns="0" bIns="0" rtlCol="0" anchor="ctr"/>
          <a:lstStyle/>
          <a:p>
            <a:pPr algn="ctr">
              <a:buNone/>
            </a:pPr>
            <a:r>
              <a:rPr lang="en-US" sz="1600" b="1" dirty="0">
                <a:solidFill>
                  <a:srgbClr val="FFFFFF"/>
                </a:solidFill>
                <a:latin typeface="Calibri"/>
              </a:rPr>
              <a:t>5</a:t>
            </a:r>
          </a:p>
        </p:txBody>
      </p:sp>
      <p:sp>
        <p:nvSpPr>
          <p:cNvPr id="29" name="RT4"/>
          <p:cNvSpPr txBox="1"/>
          <p:nvPr/>
        </p:nvSpPr>
        <p:spPr>
          <a:xfrm>
            <a:off x="1270000" y="5461000"/>
            <a:ext cx="7112000" cy="457200"/>
          </a:xfrm>
          <a:prstGeom prst="rect">
            <a:avLst/>
          </a:prstGeom>
          <a:noFill/>
        </p:spPr>
        <p:txBody>
          <a:bodyPr wrap="square" rtlCol="0" anchor="ctr"/>
          <a:lstStyle/>
          <a:p>
            <a:pPr algn="l">
              <a:buNone/>
            </a:pPr>
            <a:r>
              <a:rPr lang="en-US" sz="1800" dirty="0">
                <a:solidFill>
                  <a:srgbClr val="CADCFC"/>
                </a:solidFill>
                <a:latin typeface="Calibri"/>
              </a:rPr>
              <a:t>ChromaDB Documentation</a:t>
            </a:r>
          </a:p>
        </p:txBody>
      </p:sp>
    </p:spTree>
    <p:extLst>
      <p:ext uri="{BB962C8B-B14F-4D97-AF65-F5344CB8AC3E}">
        <p14:creationId xmlns:p14="http://schemas.microsoft.com/office/powerpoint/2010/main" val="2768620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a:extLst>
            <a:ext uri="{FF2B5EF4-FFF2-40B4-BE49-F238E27FC236}">
              <a16:creationId xmlns:a16="http://schemas.microsoft.com/office/drawing/2014/main" id="{16A2A414-98E7-5F27-4F7B-C94B84642663}"/>
            </a:ext>
          </a:extLst>
        </p:cNvPr>
        <p:cNvGrpSpPr/>
        <p:nvPr/>
      </p:nvGrpSpPr>
      <p:grpSpPr>
        <a:xfrm>
          <a:off x="0" y="0"/>
          <a:ext cx="0" cy="0"/>
          <a:chOff x="0" y="0"/>
          <a:chExt cx="0" cy="0"/>
        </a:xfrm>
      </p:grpSpPr>
      <p:sp>
        <p:nvSpPr>
          <p:cNvPr id="10" name="T">
            <a:extLst>
              <a:ext uri="{FF2B5EF4-FFF2-40B4-BE49-F238E27FC236}">
                <a16:creationId xmlns:a16="http://schemas.microsoft.com/office/drawing/2014/main" id="{655F2FE4-7468-3DED-954F-261D0D172921}"/>
              </a:ext>
            </a:extLst>
          </p:cNvPr>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A5: ARCHITECTURE</a:t>
            </a:r>
          </a:p>
        </p:txBody>
      </p:sp>
      <p:sp>
        <p:nvSpPr>
          <p:cNvPr id="11" name="S">
            <a:extLst>
              <a:ext uri="{FF2B5EF4-FFF2-40B4-BE49-F238E27FC236}">
                <a16:creationId xmlns:a16="http://schemas.microsoft.com/office/drawing/2014/main" id="{290AD2F2-FCBE-8B0A-0385-693D57906C6D}"/>
              </a:ext>
            </a:extLst>
          </p:cNvPr>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System Context</a:t>
            </a:r>
          </a:p>
        </p:txBody>
      </p:sp>
      <p:sp>
        <p:nvSpPr>
          <p:cNvPr id="12" name="L">
            <a:extLst>
              <a:ext uri="{FF2B5EF4-FFF2-40B4-BE49-F238E27FC236}">
                <a16:creationId xmlns:a16="http://schemas.microsoft.com/office/drawing/2014/main" id="{13367BDD-B123-F527-3AEC-2066C32DCC98}"/>
              </a:ext>
            </a:extLst>
          </p:cNvPr>
          <p:cNvSpPr/>
          <p:nvPr/>
        </p:nvSpPr>
        <p:spPr>
          <a:xfrm>
            <a:off x="457200" y="1041400"/>
            <a:ext cx="8229600" cy="0"/>
          </a:xfrm>
          <a:prstGeom prst="line">
            <a:avLst/>
          </a:prstGeom>
          <a:ln w="12700">
            <a:solidFill>
              <a:srgbClr val="02C39A"/>
            </a:solidFill>
          </a:ln>
        </p:spPr>
        <p:txBody>
          <a:bodyPr/>
          <a:lstStyle/>
          <a:p>
            <a:endParaRPr lang="en-US"/>
          </a:p>
        </p:txBody>
      </p:sp>
      <p:pic>
        <p:nvPicPr>
          <p:cNvPr id="2050" name="Picture 2">
            <a:extLst>
              <a:ext uri="{FF2B5EF4-FFF2-40B4-BE49-F238E27FC236}">
                <a16:creationId xmlns:a16="http://schemas.microsoft.com/office/drawing/2014/main" id="{7BA83D1E-37E1-D7C4-CF09-955F37B74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66801"/>
            <a:ext cx="8229600" cy="5735782"/>
          </a:xfrm>
          <a:prstGeom prst="rect">
            <a:avLst/>
          </a:prstGeom>
          <a:solidFill>
            <a:schemeClr val="tx2">
              <a:lumMod val="20000"/>
              <a:lumOff val="80000"/>
            </a:schemeClr>
          </a:solidFill>
        </p:spPr>
      </p:pic>
    </p:spTree>
    <p:extLst>
      <p:ext uri="{BB962C8B-B14F-4D97-AF65-F5344CB8AC3E}">
        <p14:creationId xmlns:p14="http://schemas.microsoft.com/office/powerpoint/2010/main" val="288078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a:extLst>
            <a:ext uri="{FF2B5EF4-FFF2-40B4-BE49-F238E27FC236}">
              <a16:creationId xmlns:a16="http://schemas.microsoft.com/office/drawing/2014/main" id="{94022081-D368-EB68-D5B9-0B908E8BC4CC}"/>
            </a:ext>
          </a:extLst>
        </p:cNvPr>
        <p:cNvGrpSpPr/>
        <p:nvPr/>
      </p:nvGrpSpPr>
      <p:grpSpPr>
        <a:xfrm>
          <a:off x="0" y="0"/>
          <a:ext cx="0" cy="0"/>
          <a:chOff x="0" y="0"/>
          <a:chExt cx="0" cy="0"/>
        </a:xfrm>
      </p:grpSpPr>
      <p:sp>
        <p:nvSpPr>
          <p:cNvPr id="10" name="T">
            <a:extLst>
              <a:ext uri="{FF2B5EF4-FFF2-40B4-BE49-F238E27FC236}">
                <a16:creationId xmlns:a16="http://schemas.microsoft.com/office/drawing/2014/main" id="{9168916D-CB08-AFAA-6AA8-C9709B6A5332}"/>
              </a:ext>
            </a:extLst>
          </p:cNvPr>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A5: ARCHITECTURE</a:t>
            </a:r>
          </a:p>
        </p:txBody>
      </p:sp>
      <p:sp>
        <p:nvSpPr>
          <p:cNvPr id="11" name="S">
            <a:extLst>
              <a:ext uri="{FF2B5EF4-FFF2-40B4-BE49-F238E27FC236}">
                <a16:creationId xmlns:a16="http://schemas.microsoft.com/office/drawing/2014/main" id="{5EAE37CE-1E98-ED64-F10E-9DD2E113CF9F}"/>
              </a:ext>
            </a:extLst>
          </p:cNvPr>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Container Diagram</a:t>
            </a:r>
          </a:p>
        </p:txBody>
      </p:sp>
      <p:sp>
        <p:nvSpPr>
          <p:cNvPr id="12" name="L">
            <a:extLst>
              <a:ext uri="{FF2B5EF4-FFF2-40B4-BE49-F238E27FC236}">
                <a16:creationId xmlns:a16="http://schemas.microsoft.com/office/drawing/2014/main" id="{4D259745-79B5-C313-8475-177E83A0A64F}"/>
              </a:ext>
            </a:extLst>
          </p:cNvPr>
          <p:cNvSpPr/>
          <p:nvPr/>
        </p:nvSpPr>
        <p:spPr>
          <a:xfrm>
            <a:off x="457200" y="1041400"/>
            <a:ext cx="8229600" cy="0"/>
          </a:xfrm>
          <a:prstGeom prst="line">
            <a:avLst/>
          </a:prstGeom>
          <a:ln w="12700">
            <a:solidFill>
              <a:srgbClr val="02C39A"/>
            </a:solidFill>
          </a:ln>
        </p:spPr>
        <p:txBody>
          <a:bodyPr/>
          <a:lstStyle/>
          <a:p>
            <a:endParaRPr lang="en-US"/>
          </a:p>
        </p:txBody>
      </p:sp>
      <p:pic>
        <p:nvPicPr>
          <p:cNvPr id="3074" name="Picture 2">
            <a:extLst>
              <a:ext uri="{FF2B5EF4-FFF2-40B4-BE49-F238E27FC236}">
                <a16:creationId xmlns:a16="http://schemas.microsoft.com/office/drawing/2014/main" id="{B107EF2C-74C0-4777-F1D7-D40CD73D9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8740" y="1066801"/>
            <a:ext cx="3986519" cy="5740587"/>
          </a:xfrm>
          <a:prstGeom prst="rect">
            <a:avLst/>
          </a:prstGeom>
          <a:solidFill>
            <a:schemeClr val="tx2">
              <a:lumMod val="20000"/>
              <a:lumOff val="80000"/>
            </a:schemeClr>
          </a:solidFill>
        </p:spPr>
      </p:pic>
    </p:spTree>
    <p:extLst>
      <p:ext uri="{BB962C8B-B14F-4D97-AF65-F5344CB8AC3E}">
        <p14:creationId xmlns:p14="http://schemas.microsoft.com/office/powerpoint/2010/main" val="996392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a:extLst>
            <a:ext uri="{FF2B5EF4-FFF2-40B4-BE49-F238E27FC236}">
              <a16:creationId xmlns:a16="http://schemas.microsoft.com/office/drawing/2014/main" id="{4955FCA0-57E6-3C17-FBC2-58BF9A179BC1}"/>
            </a:ext>
          </a:extLst>
        </p:cNvPr>
        <p:cNvGrpSpPr/>
        <p:nvPr/>
      </p:nvGrpSpPr>
      <p:grpSpPr>
        <a:xfrm>
          <a:off x="0" y="0"/>
          <a:ext cx="0" cy="0"/>
          <a:chOff x="0" y="0"/>
          <a:chExt cx="0" cy="0"/>
        </a:xfrm>
      </p:grpSpPr>
      <p:sp>
        <p:nvSpPr>
          <p:cNvPr id="10" name="T">
            <a:extLst>
              <a:ext uri="{FF2B5EF4-FFF2-40B4-BE49-F238E27FC236}">
                <a16:creationId xmlns:a16="http://schemas.microsoft.com/office/drawing/2014/main" id="{C326EA92-56E5-967A-255B-09C15F2784E7}"/>
              </a:ext>
            </a:extLst>
          </p:cNvPr>
          <p:cNvSpPr txBox="1"/>
          <p:nvPr/>
        </p:nvSpPr>
        <p:spPr>
          <a:xfrm>
            <a:off x="457200" y="228600"/>
            <a:ext cx="8229600" cy="533400"/>
          </a:xfrm>
          <a:prstGeom prst="rect">
            <a:avLst/>
          </a:prstGeom>
          <a:noFill/>
        </p:spPr>
        <p:txBody>
          <a:bodyPr wrap="square" rtlCol="0"/>
          <a:lstStyle/>
          <a:p>
            <a:pPr algn="l">
              <a:buNone/>
            </a:pPr>
            <a:r>
              <a:rPr lang="en-US" sz="2800" b="1" dirty="0">
                <a:solidFill>
                  <a:srgbClr val="FFFFFF"/>
                </a:solidFill>
                <a:latin typeface="Calibri"/>
              </a:rPr>
              <a:t>APPENDIX A5: ARCHITECTURE</a:t>
            </a:r>
          </a:p>
        </p:txBody>
      </p:sp>
      <p:sp>
        <p:nvSpPr>
          <p:cNvPr id="11" name="S">
            <a:extLst>
              <a:ext uri="{FF2B5EF4-FFF2-40B4-BE49-F238E27FC236}">
                <a16:creationId xmlns:a16="http://schemas.microsoft.com/office/drawing/2014/main" id="{43E876EE-2027-CD23-CBEE-0357E44BC495}"/>
              </a:ext>
            </a:extLst>
          </p:cNvPr>
          <p:cNvSpPr txBox="1"/>
          <p:nvPr/>
        </p:nvSpPr>
        <p:spPr>
          <a:xfrm>
            <a:off x="457200" y="736600"/>
            <a:ext cx="8229600" cy="279400"/>
          </a:xfrm>
          <a:prstGeom prst="rect">
            <a:avLst/>
          </a:prstGeom>
          <a:noFill/>
        </p:spPr>
        <p:txBody>
          <a:bodyPr wrap="square" rtlCol="0"/>
          <a:lstStyle/>
          <a:p>
            <a:pPr algn="l">
              <a:buNone/>
            </a:pPr>
            <a:r>
              <a:rPr lang="en-US" sz="1400" dirty="0">
                <a:solidFill>
                  <a:srgbClr val="02C39A"/>
                </a:solidFill>
                <a:latin typeface="Calibri"/>
              </a:rPr>
              <a:t>Container Diagram</a:t>
            </a:r>
          </a:p>
        </p:txBody>
      </p:sp>
      <p:sp>
        <p:nvSpPr>
          <p:cNvPr id="12" name="L">
            <a:extLst>
              <a:ext uri="{FF2B5EF4-FFF2-40B4-BE49-F238E27FC236}">
                <a16:creationId xmlns:a16="http://schemas.microsoft.com/office/drawing/2014/main" id="{1CB275A1-610E-ACA3-9816-5C0CEBE72CDB}"/>
              </a:ext>
            </a:extLst>
          </p:cNvPr>
          <p:cNvSpPr/>
          <p:nvPr/>
        </p:nvSpPr>
        <p:spPr>
          <a:xfrm>
            <a:off x="457200" y="1041400"/>
            <a:ext cx="8229600" cy="0"/>
          </a:xfrm>
          <a:prstGeom prst="line">
            <a:avLst/>
          </a:prstGeom>
          <a:ln w="12700">
            <a:solidFill>
              <a:srgbClr val="02C39A"/>
            </a:solidFill>
          </a:ln>
        </p:spPr>
        <p:txBody>
          <a:bodyPr/>
          <a:lstStyle/>
          <a:p>
            <a:endParaRPr lang="en-US"/>
          </a:p>
        </p:txBody>
      </p:sp>
      <p:pic>
        <p:nvPicPr>
          <p:cNvPr id="4098" name="Picture 2">
            <a:extLst>
              <a:ext uri="{FF2B5EF4-FFF2-40B4-BE49-F238E27FC236}">
                <a16:creationId xmlns:a16="http://schemas.microsoft.com/office/drawing/2014/main" id="{6DAC7041-C19E-915C-2445-442475101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723" y="1066801"/>
            <a:ext cx="8068554" cy="5748322"/>
          </a:xfrm>
          <a:prstGeom prst="rect">
            <a:avLst/>
          </a:prstGeom>
          <a:solidFill>
            <a:schemeClr val="tx2">
              <a:lumMod val="20000"/>
              <a:lumOff val="80000"/>
            </a:schemeClr>
          </a:solidFill>
        </p:spPr>
      </p:pic>
    </p:spTree>
    <p:extLst>
      <p:ext uri="{BB962C8B-B14F-4D97-AF65-F5344CB8AC3E}">
        <p14:creationId xmlns:p14="http://schemas.microsoft.com/office/powerpoint/2010/main" val="1698634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rgbClr val="1A1A1A"/>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5E14FD2-6E65-4F0B-A713-DE4C94BD4F9C}">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1584</TotalTime>
  <Words>4546</Words>
  <Application>Microsoft Office PowerPoint</Application>
  <PresentationFormat>On-screen Show (4:3)</PresentationFormat>
  <Paragraphs>551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Ebby Peter</cp:lastModifiedBy>
  <cp:revision>8</cp:revision>
  <dcterms:created xsi:type="dcterms:W3CDTF">2013-01-27T09:14:16Z</dcterms:created>
  <dcterms:modified xsi:type="dcterms:W3CDTF">2026-03-12T09:10:49Z</dcterms:modified>
  <cp:category/>
</cp:coreProperties>
</file>